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0"/>
  </p:notesMasterIdLst>
  <p:handoutMasterIdLst>
    <p:handoutMasterId r:id="rId21"/>
  </p:handoutMasterIdLst>
  <p:sldIdLst>
    <p:sldId id="256" r:id="rId2"/>
    <p:sldId id="295" r:id="rId3"/>
    <p:sldId id="290" r:id="rId4"/>
    <p:sldId id="298" r:id="rId5"/>
    <p:sldId id="291" r:id="rId6"/>
    <p:sldId id="299" r:id="rId7"/>
    <p:sldId id="292" r:id="rId8"/>
    <p:sldId id="300" r:id="rId9"/>
    <p:sldId id="297" r:id="rId10"/>
    <p:sldId id="301" r:id="rId11"/>
    <p:sldId id="293" r:id="rId12"/>
    <p:sldId id="302" r:id="rId13"/>
    <p:sldId id="303" r:id="rId14"/>
    <p:sldId id="304" r:id="rId15"/>
    <p:sldId id="305" r:id="rId16"/>
    <p:sldId id="306" r:id="rId17"/>
    <p:sldId id="307" r:id="rId18"/>
    <p:sldId id="288" r:id="rId19"/>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8" autoAdjust="0"/>
    <p:restoredTop sz="95033" autoAdjust="0"/>
  </p:normalViewPr>
  <p:slideViewPr>
    <p:cSldViewPr>
      <p:cViewPr varScale="1">
        <p:scale>
          <a:sx n="63" d="100"/>
          <a:sy n="63" d="100"/>
        </p:scale>
        <p:origin x="1108" y="56"/>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12/03/2026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12/03/2026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F15B9-E28A-0CA6-2DBB-5D5C5428531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A611433-0ED2-8FE6-71AE-B55104D3E10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07B52AF-326E-B5DE-2FED-A679DE77B31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CAC8D38-50ED-70C2-A111-3659741CF224}"/>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15309400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0C872-3E6D-E241-C7F5-325DCB3983C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6F1BBE0-FE52-49DB-6F94-36DFBD69AB3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C754419-1018-1831-F85F-34DE08B0221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DAE0DACB-0AE7-6195-1427-D6E183A41053}"/>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3854168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51EA8-2E89-D101-134F-2C24995CE99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945EB39-229A-4DEE-0F4E-5E8CD2312C1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19219D1-BE99-4406-50D0-411513DBFC2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D593A36-84B8-972F-5F98-8DE66E63B4A9}"/>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29036820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AA65-166B-474B-A6C9-9858D86A94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158223-A8BA-05F6-464C-EC03A9FB8C5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CB4DF-C329-8F47-9ECE-661B5B2BF9A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41B2276-A4E2-DFBF-0088-6997E86C9FE1}"/>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23623159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3DF4D-A8A8-D4B9-4E2E-6AAE82AA0EF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A5B34F7-91C5-263D-7CC2-A940C968D1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D93D3A5-1F6A-4418-A597-9B1168B50CB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B157109-D415-E5F0-33F6-A0D2C5D19233}"/>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40228893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29173827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F6EB6-A20F-C87D-9132-6D188F62566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93B1AB4-E001-6F01-695B-6E87B86C90D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93187A6-C173-58B0-4C5E-AA3C987011A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DE033B5-A7A0-87D1-925A-D33A560247F9}"/>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41397154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1.0 WAVEGUIDES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3.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4.svg"/><Relationship Id="rId9"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1.0. </a:t>
            </a:r>
            <a:r>
              <a:rPr lang="es-ES" sz="3200" b="1" dirty="0" err="1">
                <a:latin typeface="Lucida Sans"/>
                <a:cs typeface="Lucida Sans"/>
              </a:rPr>
              <a:t>Waveguides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Students</a:t>
            </a:r>
            <a:r>
              <a:rPr lang="es-ES" spc="165" dirty="0">
                <a:latin typeface="Arial"/>
                <a:cs typeface="Arial"/>
              </a:rPr>
              <a:t>: Lucas N. Descalzo Puchalt, Francisco García Villar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https://github.com/cccanvas-upv/cifoin-lab1.git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WAVEGUIDES_Student.ipynb</a:t>
            </a:r>
            <a:r>
              <a:rPr lang="en-US" kern="0" dirty="0">
                <a:solidFill>
                  <a:sysClr val="windowText" lastClr="000000"/>
                </a:solidFill>
              </a:rPr>
              <a:t> </a:t>
            </a:r>
          </a:p>
          <a:p>
            <a:pPr algn="just"/>
            <a:endParaRPr lang="en-US" sz="2000" b="1" i="1" u="sng"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902765"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97" name="object 62">
            <a:extLst>
              <a:ext uri="{FF2B5EF4-FFF2-40B4-BE49-F238E27FC236}">
                <a16:creationId xmlns:a16="http://schemas.microsoft.com/office/drawing/2014/main" id="{13E0425E-CEDF-CBC4-B34B-0CC3951920EA}"/>
              </a:ext>
            </a:extLst>
          </p:cNvPr>
          <p:cNvSpPr/>
          <p:nvPr/>
        </p:nvSpPr>
        <p:spPr>
          <a:xfrm>
            <a:off x="1747061" y="3983757"/>
            <a:ext cx="76200" cy="986155"/>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091131" y="4210910"/>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endParaRPr sz="1400">
              <a:latin typeface="Calibri"/>
              <a:cs typeface="Calibri"/>
            </a:endParaRP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endParaRPr sz="1400">
              <a:latin typeface="Calibri"/>
              <a:cs typeface="Calibri"/>
            </a:endParaRPr>
          </a:p>
        </p:txBody>
      </p:sp>
      <p:sp>
        <p:nvSpPr>
          <p:cNvPr id="99" name="object 64">
            <a:extLst>
              <a:ext uri="{FF2B5EF4-FFF2-40B4-BE49-F238E27FC236}">
                <a16:creationId xmlns:a16="http://schemas.microsoft.com/office/drawing/2014/main" id="{ABAAA5DD-56CA-BF94-2180-F0866658B6B3}"/>
              </a:ext>
            </a:extLst>
          </p:cNvPr>
          <p:cNvSpPr/>
          <p:nvPr/>
        </p:nvSpPr>
        <p:spPr>
          <a:xfrm>
            <a:off x="1984805"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504743" y="3532730"/>
            <a:ext cx="733425" cy="240029"/>
          </a:xfrm>
          <a:prstGeom prst="rect">
            <a:avLst/>
          </a:prstGeom>
        </p:spPr>
        <p:txBody>
          <a:bodyPr vert="horz" wrap="square" lIns="0" tIns="13335" rIns="0" bIns="0" rtlCol="0">
            <a:spAutoFit/>
          </a:bodyPr>
          <a:lstStyle/>
          <a:p>
            <a:pPr>
              <a:lnSpc>
                <a:spcPct val="100000"/>
              </a:lnSpc>
              <a:spcBef>
                <a:spcPts val="105"/>
              </a:spcBef>
            </a:pPr>
            <a:r>
              <a:rPr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1984805"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3983988"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391400"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114" name="object 64">
            <a:extLst>
              <a:ext uri="{FF2B5EF4-FFF2-40B4-BE49-F238E27FC236}">
                <a16:creationId xmlns:a16="http://schemas.microsoft.com/office/drawing/2014/main" id="{D9E5D738-CA47-1898-E0D8-DFBC514F5A50}"/>
              </a:ext>
            </a:extLst>
          </p:cNvPr>
          <p:cNvSpPr/>
          <p:nvPr/>
        </p:nvSpPr>
        <p:spPr>
          <a:xfrm>
            <a:off x="8473440"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93378" y="3532730"/>
            <a:ext cx="733425" cy="240029"/>
          </a:xfrm>
          <a:prstGeom prst="rect">
            <a:avLst/>
          </a:prstGeom>
        </p:spPr>
        <p:txBody>
          <a:bodyPr vert="horz" wrap="square" lIns="0" tIns="13335" rIns="0" bIns="0" rtlCol="0">
            <a:spAutoFit/>
          </a:bodyPr>
          <a:lstStyle/>
          <a:p>
            <a:pPr>
              <a:lnSpc>
                <a:spcPct val="100000"/>
              </a:lnSpc>
              <a:spcBef>
                <a:spcPts val="105"/>
              </a:spcBef>
            </a:pPr>
            <a:r>
              <a:rPr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8473440"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10472623"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20" name="object 73">
            <a:extLst>
              <a:ext uri="{FF2B5EF4-FFF2-40B4-BE49-F238E27FC236}">
                <a16:creationId xmlns:a16="http://schemas.microsoft.com/office/drawing/2014/main" id="{C699977C-9138-F9B9-E43D-0CCB01AEB75F}"/>
              </a:ext>
            </a:extLst>
          </p:cNvPr>
          <p:cNvSpPr txBox="1"/>
          <p:nvPr/>
        </p:nvSpPr>
        <p:spPr>
          <a:xfrm>
            <a:off x="7391400" y="4690819"/>
            <a:ext cx="39061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dirty="0">
              <a:latin typeface="Times New Roman"/>
              <a:cs typeface="Times New Roman"/>
            </a:endParaRPr>
          </a:p>
          <a:p>
            <a:pPr marL="18415">
              <a:lnSpc>
                <a:spcPct val="100000"/>
              </a:lnSpc>
            </a:pPr>
            <a:r>
              <a:rPr lang="es-ES" sz="1600" b="1" spc="-10" dirty="0" err="1">
                <a:latin typeface="Calibri"/>
                <a:cs typeface="Calibri"/>
              </a:rPr>
              <a:t>Slab</a:t>
            </a:r>
            <a:endParaRPr sz="1600" dirty="0">
              <a:latin typeface="Calibri"/>
              <a:cs typeface="Calibri"/>
            </a:endParaRPr>
          </a:p>
        </p:txBody>
      </p:sp>
      <p:sp>
        <p:nvSpPr>
          <p:cNvPr id="112" name="object 62">
            <a:extLst>
              <a:ext uri="{FF2B5EF4-FFF2-40B4-BE49-F238E27FC236}">
                <a16:creationId xmlns:a16="http://schemas.microsoft.com/office/drawing/2014/main" id="{04561701-4B4F-F208-98F6-2DAB5C1138D3}"/>
              </a:ext>
            </a:extLst>
          </p:cNvPr>
          <p:cNvSpPr/>
          <p:nvPr/>
        </p:nvSpPr>
        <p:spPr>
          <a:xfrm>
            <a:off x="8575910" y="3994221"/>
            <a:ext cx="56259" cy="694989"/>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1" name="object 62">
            <a:extLst>
              <a:ext uri="{FF2B5EF4-FFF2-40B4-BE49-F238E27FC236}">
                <a16:creationId xmlns:a16="http://schemas.microsoft.com/office/drawing/2014/main" id="{CCA3B0D6-0C9E-B4A6-FA43-1AB5F1821674}"/>
              </a:ext>
            </a:extLst>
          </p:cNvPr>
          <p:cNvSpPr/>
          <p:nvPr/>
        </p:nvSpPr>
        <p:spPr>
          <a:xfrm>
            <a:off x="8233207" y="4689210"/>
            <a:ext cx="55008" cy="613272"/>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13" name="object 63">
            <a:extLst>
              <a:ext uri="{FF2B5EF4-FFF2-40B4-BE49-F238E27FC236}">
                <a16:creationId xmlns:a16="http://schemas.microsoft.com/office/drawing/2014/main" id="{6394166D-0522-24AD-E666-39FE8A3FDC24}"/>
              </a:ext>
            </a:extLst>
          </p:cNvPr>
          <p:cNvSpPr txBox="1"/>
          <p:nvPr/>
        </p:nvSpPr>
        <p:spPr>
          <a:xfrm>
            <a:off x="8351994" y="4887127"/>
            <a:ext cx="674053" cy="228909"/>
          </a:xfrm>
          <a:prstGeom prst="rect">
            <a:avLst/>
          </a:prstGeom>
        </p:spPr>
        <p:txBody>
          <a:bodyPr vert="horz" wrap="square" lIns="0" tIns="13335" rIns="0" bIns="0" rtlCol="0">
            <a:spAutoFit/>
          </a:bodyPr>
          <a:lstStyle/>
          <a:p>
            <a:pPr marR="3175">
              <a:lnSpc>
                <a:spcPct val="100000"/>
              </a:lnSpc>
              <a:spcBef>
                <a:spcPts val="105"/>
              </a:spcBef>
            </a:pPr>
            <a:r>
              <a:rPr lang="es-ES" sz="1400" dirty="0" err="1">
                <a:latin typeface="Calibri"/>
                <a:cs typeface="Calibri"/>
              </a:rPr>
              <a:t>h_slab</a:t>
            </a:r>
            <a:endParaRPr sz="1400" dirty="0">
              <a:latin typeface="Calibri"/>
              <a:cs typeface="Calibri"/>
            </a:endParaRPr>
          </a:p>
        </p:txBody>
      </p:sp>
      <p:sp>
        <p:nvSpPr>
          <p:cNvPr id="122" name="object 63">
            <a:extLst>
              <a:ext uri="{FF2B5EF4-FFF2-40B4-BE49-F238E27FC236}">
                <a16:creationId xmlns:a16="http://schemas.microsoft.com/office/drawing/2014/main" id="{B589EB7D-B26E-4239-A5C2-F96DBBE82162}"/>
              </a:ext>
            </a:extLst>
          </p:cNvPr>
          <p:cNvSpPr txBox="1"/>
          <p:nvPr/>
        </p:nvSpPr>
        <p:spPr>
          <a:xfrm>
            <a:off x="8706378" y="3990085"/>
            <a:ext cx="1380175" cy="228909"/>
          </a:xfrm>
          <a:prstGeom prst="rect">
            <a:avLst/>
          </a:prstGeom>
        </p:spPr>
        <p:txBody>
          <a:bodyPr vert="horz" wrap="square" lIns="0" tIns="13335" rIns="0" bIns="0" rtlCol="0">
            <a:spAutoFit/>
          </a:bodyPr>
          <a:lstStyle/>
          <a:p>
            <a:pPr marR="3175">
              <a:lnSpc>
                <a:spcPct val="100000"/>
              </a:lnSpc>
              <a:spcBef>
                <a:spcPts val="105"/>
              </a:spcBef>
            </a:pPr>
            <a:r>
              <a:rPr lang="es-ES" sz="1400" spc="-10" dirty="0" err="1">
                <a:latin typeface="Calibri"/>
                <a:cs typeface="Calibri"/>
              </a:rPr>
              <a:t>h_core</a:t>
            </a:r>
            <a:r>
              <a:rPr lang="es-ES" sz="1400" spc="-10" dirty="0">
                <a:latin typeface="Calibri"/>
                <a:cs typeface="Calibri"/>
              </a:rPr>
              <a:t> </a:t>
            </a:r>
            <a:endParaRPr sz="14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9306491" y="5257071"/>
            <a:ext cx="1980542" cy="369332"/>
          </a:xfrm>
          <a:prstGeom prst="rect">
            <a:avLst/>
          </a:prstGeom>
          <a:noFill/>
        </p:spPr>
        <p:txBody>
          <a:bodyPr wrap="none" rtlCol="0">
            <a:spAutoFit/>
          </a:bodyPr>
          <a:lstStyle/>
          <a:p>
            <a:pPr algn="ctr"/>
            <a:r>
              <a:rPr lang="en-US" b="1" dirty="0"/>
              <a:t>shallow</a:t>
            </a:r>
            <a:r>
              <a:rPr lang="en-US" dirty="0"/>
              <a:t> waveguide</a:t>
            </a:r>
          </a:p>
        </p:txBody>
      </p:sp>
      <p:sp>
        <p:nvSpPr>
          <p:cNvPr id="8" name="CuadroTexto 7">
            <a:extLst>
              <a:ext uri="{FF2B5EF4-FFF2-40B4-BE49-F238E27FC236}">
                <a16:creationId xmlns:a16="http://schemas.microsoft.com/office/drawing/2014/main" id="{7336B5D8-2D70-3E7A-336D-AF55EC49DEB8}"/>
              </a:ext>
            </a:extLst>
          </p:cNvPr>
          <p:cNvSpPr txBox="1"/>
          <p:nvPr/>
        </p:nvSpPr>
        <p:spPr>
          <a:xfrm>
            <a:off x="2969899" y="5257071"/>
            <a:ext cx="2157554" cy="369332"/>
          </a:xfrm>
          <a:prstGeom prst="rect">
            <a:avLst/>
          </a:prstGeom>
          <a:noFill/>
        </p:spPr>
        <p:txBody>
          <a:bodyPr wrap="square">
            <a:spAutoFit/>
          </a:bodyPr>
          <a:lstStyle/>
          <a:p>
            <a:pPr algn="ctr"/>
            <a:r>
              <a:rPr lang="en-US" b="1" dirty="0"/>
              <a:t>deep</a:t>
            </a:r>
            <a:r>
              <a:rPr lang="en-US" dirty="0"/>
              <a:t> waveguide</a:t>
            </a:r>
          </a:p>
        </p:txBody>
      </p:sp>
    </p:spTree>
    <p:extLst>
      <p:ext uri="{BB962C8B-B14F-4D97-AF65-F5344CB8AC3E}">
        <p14:creationId xmlns:p14="http://schemas.microsoft.com/office/powerpoint/2010/main" val="473922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Effective index of a waveguide</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materials, output, results.</a:t>
            </a:r>
          </a:p>
          <a:p>
            <a:pPr marL="342900" indent="-342900" algn="just">
              <a:buFont typeface="Arial" panose="020B0604020202020204" pitchFamily="34" charset="0"/>
              <a:buChar char="•"/>
            </a:pPr>
            <a:r>
              <a:rPr lang="en-US" sz="2000" dirty="0"/>
              <a:t>Explain how to run a simulation for a particular cross-section. </a:t>
            </a:r>
          </a:p>
          <a:p>
            <a:pPr marL="342900" indent="-342900" algn="just">
              <a:buFont typeface="Arial" panose="020B0604020202020204" pitchFamily="34" charset="0"/>
              <a:buChar char="•"/>
            </a:pPr>
            <a:r>
              <a:rPr lang="en-US" sz="2000" dirty="0"/>
              <a:t>Showcase how to change between shallow and deep waveguide.</a:t>
            </a:r>
          </a:p>
          <a:p>
            <a:pPr marL="342900" indent="-342900" algn="just">
              <a:buFont typeface="Arial" panose="020B0604020202020204" pitchFamily="34" charset="0"/>
              <a:buChar char="•"/>
            </a:pPr>
            <a:r>
              <a:rPr lang="en-US" sz="2000" dirty="0"/>
              <a:t>Describe how to change the wavelength and width for the waveguide analysis.</a:t>
            </a:r>
          </a:p>
          <a:p>
            <a:pPr marL="342900" indent="-342900" algn="just">
              <a:buFont typeface="Arial" panose="020B0604020202020204" pitchFamily="34" charset="0"/>
              <a:buChar char="•"/>
            </a:pPr>
            <a:r>
              <a:rPr lang="en-US" sz="2000" dirty="0"/>
              <a:t>Describe the outputs.</a:t>
            </a:r>
          </a:p>
          <a:p>
            <a:pPr marL="0" indent="0" algn="just">
              <a:buNone/>
            </a:pPr>
            <a:r>
              <a:rPr lang="en-US" sz="2000" b="1" dirty="0"/>
              <a:t>ALL EXAMPLE #1: </a:t>
            </a:r>
            <a:r>
              <a:rPr lang="en-US" sz="2000" dirty="0"/>
              <a:t>waveguide width 1.2 µm, deep </a:t>
            </a:r>
            <a:r>
              <a:rPr lang="en-US" sz="2000" dirty="0" err="1"/>
              <a:t>wvg</a:t>
            </a:r>
            <a:r>
              <a:rPr lang="en-US" sz="2000" dirty="0"/>
              <a:t>, wavelength start and end same 1.55 µm </a:t>
            </a:r>
            <a:r>
              <a:rPr lang="en-US" sz="2000" dirty="0">
                <a:sym typeface="Wingdings" pitchFamily="2" charset="2"/>
              </a:rPr>
              <a:t> all ”Run”</a:t>
            </a:r>
            <a:endParaRPr lang="en-US" sz="2000" dirty="0"/>
          </a:p>
          <a:p>
            <a:pPr marL="0" indent="0" algn="just">
              <a:buNone/>
            </a:pPr>
            <a:r>
              <a:rPr lang="en-US" sz="2000" b="1" dirty="0"/>
              <a:t>ALL: </a:t>
            </a:r>
            <a:r>
              <a:rPr lang="en-US" sz="2000" dirty="0"/>
              <a:t>Follow</a:t>
            </a:r>
            <a:r>
              <a:rPr lang="en-US" sz="2000" b="1" dirty="0"/>
              <a:t> </a:t>
            </a:r>
            <a:r>
              <a:rPr lang="en-US" sz="2000" dirty="0"/>
              <a:t>instructor, that will show how to 1) plot mode, 2) explore the results (neff …)</a:t>
            </a:r>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954107"/>
          </a:xfrm>
          <a:prstGeom prst="rect">
            <a:avLst/>
          </a:prstGeom>
          <a:solidFill>
            <a:schemeClr val="bg1">
              <a:lumMod val="95000"/>
            </a:schemeClr>
          </a:solidFill>
          <a:ln w="28575">
            <a:solidFill>
              <a:srgbClr val="E0700D"/>
            </a:solidFill>
          </a:ln>
        </p:spPr>
        <p:txBody>
          <a:bodyPr wrap="square" rtlCol="0">
            <a:spAutoFit/>
          </a:bodyPr>
          <a:lstStyle/>
          <a:p>
            <a:pPr algn="just"/>
            <a:r>
              <a:rPr lang="en-US" sz="1400" dirty="0" err="1">
                <a:latin typeface="Arial" panose="020B0604020202020204" pitchFamily="34" charset="0"/>
                <a:cs typeface="Arial" panose="020B0604020202020204" pitchFamily="34" charset="0"/>
              </a:rPr>
              <a:t>Resultados</a:t>
            </a:r>
            <a:r>
              <a:rPr lang="en-US" sz="1400" dirty="0">
                <a:latin typeface="Arial" panose="020B0604020202020204" pitchFamily="34" charset="0"/>
                <a:cs typeface="Arial" panose="020B0604020202020204" pitchFamily="34" charset="0"/>
              </a:rPr>
              <a:t>:</a:t>
            </a:r>
          </a:p>
          <a:p>
            <a:pPr marL="171450" indent="-171450" algn="just">
              <a:buFont typeface="Arial" panose="020B0604020202020204" pitchFamily="34" charset="0"/>
              <a:buChar char="•"/>
            </a:pPr>
            <a:r>
              <a:rPr lang="en-US" sz="1400" dirty="0" err="1">
                <a:latin typeface="Arial" panose="020B0604020202020204" pitchFamily="34" charset="0"/>
                <a:cs typeface="Arial" panose="020B0604020202020204" pitchFamily="34" charset="0"/>
              </a:rPr>
              <a:t>neff</a:t>
            </a:r>
            <a:r>
              <a:rPr lang="en-US" sz="1400" dirty="0">
                <a:latin typeface="Arial" panose="020B0604020202020204" pitchFamily="34" charset="0"/>
                <a:cs typeface="Arial" panose="020B0604020202020204" pitchFamily="34" charset="0"/>
              </a:rPr>
              <a:t> = [1.60524792+0.00010066j, 1.52829803+0.00017753j, 1.45072999+0.00019228j, </a:t>
            </a:r>
            <a:r>
              <a:rPr lang="en-US" sz="1400" dirty="0">
                <a:solidFill>
                  <a:srgbClr val="FF0000"/>
                </a:solidFill>
                <a:latin typeface="Arial" panose="020B0604020202020204" pitchFamily="34" charset="0"/>
                <a:cs typeface="Arial" panose="020B0604020202020204" pitchFamily="34" charset="0"/>
              </a:rPr>
              <a:t>1.43325817 </a:t>
            </a:r>
            <a:r>
              <a:rPr lang="en-US" sz="1400" dirty="0">
                <a:latin typeface="Arial" panose="020B0604020202020204" pitchFamily="34" charset="0"/>
                <a:cs typeface="Arial" panose="020B0604020202020204" pitchFamily="34" charset="0"/>
              </a:rPr>
              <a:t>+0.00021838j]</a:t>
            </a:r>
          </a:p>
          <a:p>
            <a:pPr marL="171450" indent="-171450" algn="just">
              <a:buFont typeface="Arial" panose="020B0604020202020204" pitchFamily="34" charset="0"/>
              <a:buChar char="•"/>
            </a:pPr>
            <a:r>
              <a:rPr lang="en-US" sz="1400" dirty="0" err="1">
                <a:latin typeface="Arial" panose="020B0604020202020204" pitchFamily="34" charset="0"/>
                <a:cs typeface="Arial" panose="020B0604020202020204" pitchFamily="34" charset="0"/>
              </a:rPr>
              <a:t>fraction_te</a:t>
            </a:r>
            <a:r>
              <a:rPr lang="en-US" sz="1400" dirty="0">
                <a:latin typeface="Arial" panose="020B0604020202020204" pitchFamily="34" charset="0"/>
                <a:cs typeface="Arial" panose="020B0604020202020204" pitchFamily="34" charset="0"/>
              </a:rPr>
              <a:t> = [0.99505426, 0.01004259, 0.96264794, 0.047651  ]</a:t>
            </a:r>
          </a:p>
          <a:p>
            <a:pPr marL="171450" indent="-171450" algn="just">
              <a:buFont typeface="Arial" panose="020B0604020202020204" pitchFamily="34" charset="0"/>
              <a:buChar char="•"/>
            </a:pPr>
            <a:r>
              <a:rPr lang="en-US" sz="1400" dirty="0" err="1">
                <a:latin typeface="Arial" panose="020B0604020202020204" pitchFamily="34" charset="0"/>
                <a:cs typeface="Arial" panose="020B0604020202020204" pitchFamily="34" charset="0"/>
              </a:rPr>
              <a:t>fraction_tm</a:t>
            </a:r>
            <a:r>
              <a:rPr lang="en-US" sz="1400" dirty="0">
                <a:latin typeface="Arial" panose="020B0604020202020204" pitchFamily="34" charset="0"/>
                <a:cs typeface="Arial" panose="020B0604020202020204" pitchFamily="34" charset="0"/>
              </a:rPr>
              <a:t> = [0.00494574, 0.98995741, 0.03735206, 0.952349  ]</a:t>
            </a:r>
            <a:endParaRPr lang="es-ES" sz="1400" dirty="0"/>
          </a:p>
        </p:txBody>
      </p:sp>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C9638-EA38-9794-A097-AB3BDC7D431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A0FCA029-0F9C-9482-5CCA-9DC8A343BAB6}"/>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a:t>
            </a:r>
            <a:r>
              <a:rPr lang="en-US" sz="2500" dirty="0" err="1"/>
              <a:t>Continuación</a:t>
            </a:r>
            <a:r>
              <a:rPr lang="en-US" sz="2500" dirty="0"/>
              <a:t> – Effective index of a waveguide</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0D6A569C-A642-EAB8-3DF3-764381DD68B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5A433AC2-14F9-6F26-8583-1223DB739793}"/>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D00B4EB8-4ACE-94EB-847A-9AED0C792245}"/>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A6C6B5C9-E151-026B-D85C-45EF30984ABB}"/>
              </a:ext>
            </a:extLst>
          </p:cNvPr>
          <p:cNvSpPr txBox="1"/>
          <p:nvPr/>
        </p:nvSpPr>
        <p:spPr>
          <a:xfrm>
            <a:off x="583019" y="1186068"/>
            <a:ext cx="11199971" cy="2246769"/>
          </a:xfrm>
          <a:prstGeom prst="rect">
            <a:avLst/>
          </a:prstGeom>
          <a:solidFill>
            <a:schemeClr val="bg1">
              <a:lumMod val="95000"/>
            </a:schemeClr>
          </a:solidFill>
          <a:ln w="28575">
            <a:solidFill>
              <a:srgbClr val="E0700D"/>
            </a:solidFill>
          </a:ln>
        </p:spPr>
        <p:txBody>
          <a:bodyPr wrap="square" rtlCol="0">
            <a:spAutoFit/>
          </a:bodyPr>
          <a:lstStyle/>
          <a:p>
            <a:r>
              <a:rPr lang="es-ES" sz="1400" dirty="0">
                <a:latin typeface="Arial" panose="020B0604020202020204" pitchFamily="34" charset="0"/>
                <a:cs typeface="Arial" panose="020B0604020202020204" pitchFamily="34" charset="0"/>
              </a:rPr>
              <a:t>El </a:t>
            </a:r>
            <a:r>
              <a:rPr lang="es-ES" sz="1400" dirty="0" err="1">
                <a:latin typeface="Arial" panose="020B0604020202020204" pitchFamily="34" charset="0"/>
                <a:cs typeface="Arial" panose="020B0604020202020204" pitchFamily="34" charset="0"/>
              </a:rPr>
              <a:t>n_eff</a:t>
            </a:r>
            <a:r>
              <a:rPr lang="es-ES" sz="1400" dirty="0">
                <a:latin typeface="Arial" panose="020B0604020202020204" pitchFamily="34" charset="0"/>
                <a:cs typeface="Arial" panose="020B0604020202020204" pitchFamily="34" charset="0"/>
              </a:rPr>
              <a:t> de un modo guiado siempre se sitúa entre el índice del núcleo y el del </a:t>
            </a:r>
            <a:r>
              <a:rPr lang="es-ES" sz="1400" dirty="0" err="1">
                <a:latin typeface="Arial" panose="020B0604020202020204" pitchFamily="34" charset="0"/>
                <a:cs typeface="Arial" panose="020B0604020202020204" pitchFamily="34" charset="0"/>
              </a:rPr>
              <a:t>cladding</a:t>
            </a:r>
            <a:r>
              <a:rPr lang="es-ES" sz="1400" dirty="0">
                <a:latin typeface="Arial" panose="020B0604020202020204" pitchFamily="34" charset="0"/>
                <a:cs typeface="Arial" panose="020B0604020202020204" pitchFamily="34" charset="0"/>
              </a:rPr>
              <a:t>, representando la "velocidad de fase efectiva" del modo en la guía. Como podemos apreciar en los resultados, queda descartado el </a:t>
            </a:r>
            <a:r>
              <a:rPr lang="es-ES" sz="1400" dirty="0" err="1">
                <a:latin typeface="Arial" panose="020B0604020202020204" pitchFamily="34" charset="0"/>
                <a:cs typeface="Arial" panose="020B0604020202020204" pitchFamily="34" charset="0"/>
              </a:rPr>
              <a:t>n_eff</a:t>
            </a:r>
            <a:r>
              <a:rPr lang="es-ES" sz="1400" dirty="0">
                <a:latin typeface="Arial" panose="020B0604020202020204" pitchFamily="34" charset="0"/>
                <a:cs typeface="Arial" panose="020B0604020202020204" pitchFamily="34" charset="0"/>
              </a:rPr>
              <a:t> del 4to modo, al ser menor que el </a:t>
            </a:r>
            <a:r>
              <a:rPr lang="es-ES" sz="1400" dirty="0" err="1">
                <a:latin typeface="Arial" panose="020B0604020202020204" pitchFamily="34" charset="0"/>
                <a:cs typeface="Arial" panose="020B0604020202020204" pitchFamily="34" charset="0"/>
              </a:rPr>
              <a:t>n_cladding</a:t>
            </a:r>
            <a:r>
              <a:rPr lang="es-ES" sz="1400" dirty="0">
                <a:latin typeface="Arial" panose="020B0604020202020204" pitchFamily="34" charset="0"/>
                <a:cs typeface="Arial" panose="020B0604020202020204" pitchFamily="34" charset="0"/>
              </a:rPr>
              <a:t> (</a:t>
            </a:r>
            <a:r>
              <a:rPr lang="en-US" sz="1400" dirty="0">
                <a:latin typeface="Arial" panose="020B0604020202020204" pitchFamily="34" charset="0"/>
                <a:cs typeface="Arial" panose="020B0604020202020204" pitchFamily="34" charset="0"/>
              </a:rPr>
              <a:t>1.4332 &lt; 1.44) para </a:t>
            </a:r>
            <a:r>
              <a:rPr lang="es-ES" sz="1400" dirty="0">
                <a:latin typeface="Arial" panose="020B0604020202020204" pitchFamily="34" charset="0"/>
                <a:cs typeface="Arial" panose="020B0604020202020204" pitchFamily="34" charset="0"/>
              </a:rPr>
              <a:t>λ = 1.55µm.</a:t>
            </a:r>
          </a:p>
          <a:p>
            <a:endParaRPr lang="es-ES" sz="1400" dirty="0">
              <a:latin typeface="Arial" panose="020B0604020202020204" pitchFamily="34" charset="0"/>
              <a:cs typeface="Arial" panose="020B0604020202020204" pitchFamily="34" charset="0"/>
            </a:endParaRPr>
          </a:p>
          <a:p>
            <a:r>
              <a:rPr lang="es-ES" sz="1400" dirty="0">
                <a:latin typeface="Arial" panose="020B0604020202020204" pitchFamily="34" charset="0"/>
                <a:cs typeface="Arial" panose="020B0604020202020204" pitchFamily="34" charset="0"/>
              </a:rPr>
              <a:t>Los modos 0 y 2 son predominantemente TE (</a:t>
            </a:r>
            <a:r>
              <a:rPr lang="es-ES" sz="1400" dirty="0" err="1">
                <a:latin typeface="Arial" panose="020B0604020202020204" pitchFamily="34" charset="0"/>
                <a:cs typeface="Arial" panose="020B0604020202020204" pitchFamily="34" charset="0"/>
              </a:rPr>
              <a:t>fraction_TE</a:t>
            </a:r>
            <a:r>
              <a:rPr lang="es-ES" sz="1400" dirty="0">
                <a:latin typeface="Arial" panose="020B0604020202020204" pitchFamily="34" charset="0"/>
                <a:cs typeface="Arial" panose="020B0604020202020204" pitchFamily="34" charset="0"/>
              </a:rPr>
              <a:t> ≈ 0.995 y 0.963), mientras que los modos 1 y 3 son TM (</a:t>
            </a:r>
            <a:r>
              <a:rPr lang="es-ES" sz="1400" dirty="0" err="1">
                <a:latin typeface="Arial" panose="020B0604020202020204" pitchFamily="34" charset="0"/>
                <a:cs typeface="Arial" panose="020B0604020202020204" pitchFamily="34" charset="0"/>
              </a:rPr>
              <a:t>fraction_TE</a:t>
            </a:r>
            <a:r>
              <a:rPr lang="es-ES" sz="1400" dirty="0">
                <a:latin typeface="Arial" panose="020B0604020202020204" pitchFamily="34" charset="0"/>
                <a:cs typeface="Arial" panose="020B0604020202020204" pitchFamily="34" charset="0"/>
              </a:rPr>
              <a:t> ≈ 0.010 y 0.048). El modo TE0 presenta el </a:t>
            </a:r>
            <a:r>
              <a:rPr lang="es-ES" sz="1400" dirty="0" err="1">
                <a:latin typeface="Arial" panose="020B0604020202020204" pitchFamily="34" charset="0"/>
                <a:cs typeface="Arial" panose="020B0604020202020204" pitchFamily="34" charset="0"/>
              </a:rPr>
              <a:t>n_eff</a:t>
            </a:r>
            <a:r>
              <a:rPr lang="es-ES" sz="1400" dirty="0">
                <a:latin typeface="Arial" panose="020B0604020202020204" pitchFamily="34" charset="0"/>
                <a:cs typeface="Arial" panose="020B0604020202020204" pitchFamily="34" charset="0"/>
              </a:rPr>
              <a:t> más alto (1.605), lo que confirma que es el modo fundamental, viajando con menor ángulo de rebote respecto al eje de propagación. Los modos de orden superior son más oblicuos y, por tanto, tendrán menor β y menor </a:t>
            </a:r>
            <a:r>
              <a:rPr lang="es-ES" sz="1400" dirty="0" err="1">
                <a:latin typeface="Arial" panose="020B0604020202020204" pitchFamily="34" charset="0"/>
                <a:cs typeface="Arial" panose="020B0604020202020204" pitchFamily="34" charset="0"/>
              </a:rPr>
              <a:t>n_eff</a:t>
            </a:r>
            <a:r>
              <a:rPr lang="es-ES" sz="1400" dirty="0">
                <a:latin typeface="Arial" panose="020B0604020202020204" pitchFamily="34" charset="0"/>
                <a:cs typeface="Arial" panose="020B0604020202020204" pitchFamily="34" charset="0"/>
              </a:rPr>
              <a:t>.</a:t>
            </a:r>
          </a:p>
          <a:p>
            <a:endParaRPr lang="es-ES" sz="1400" dirty="0">
              <a:latin typeface="Arial" panose="020B0604020202020204" pitchFamily="34" charset="0"/>
              <a:cs typeface="Arial" panose="020B0604020202020204" pitchFamily="34" charset="0"/>
            </a:endParaRPr>
          </a:p>
          <a:p>
            <a:r>
              <a:rPr lang="es-ES" sz="1400" dirty="0">
                <a:latin typeface="Arial" panose="020B0604020202020204" pitchFamily="34" charset="0"/>
                <a:cs typeface="Arial" panose="020B0604020202020204" pitchFamily="34" charset="0"/>
              </a:rPr>
              <a:t>La parte imaginaria de los distintos </a:t>
            </a:r>
            <a:r>
              <a:rPr lang="es-ES" sz="1400" dirty="0" err="1">
                <a:latin typeface="Arial" panose="020B0604020202020204" pitchFamily="34" charset="0"/>
                <a:cs typeface="Arial" panose="020B0604020202020204" pitchFamily="34" charset="0"/>
              </a:rPr>
              <a:t>n_eff</a:t>
            </a:r>
            <a:r>
              <a:rPr lang="es-ES" sz="1400" dirty="0">
                <a:latin typeface="Arial" panose="020B0604020202020204" pitchFamily="34" charset="0"/>
                <a:cs typeface="Arial" panose="020B0604020202020204" pitchFamily="34" charset="0"/>
              </a:rPr>
              <a:t> no es nula, lo que implica cierta atenuación finita del modo. Esto significa, según la función de transferencia, en que la amplitud del campo se atenuará de forma exponencial a lo largo de la guía.</a:t>
            </a:r>
          </a:p>
        </p:txBody>
      </p:sp>
    </p:spTree>
    <p:extLst>
      <p:ext uri="{BB962C8B-B14F-4D97-AF65-F5344CB8AC3E}">
        <p14:creationId xmlns:p14="http://schemas.microsoft.com/office/powerpoint/2010/main" val="11075786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Wavelength behavior</a:t>
            </a:r>
            <a:br>
              <a:rPr lang="es-ES" sz="2500" spc="-5" dirty="0">
                <a:latin typeface="+mj-lt"/>
                <a:cs typeface="Lucida Sans"/>
              </a:rPr>
            </a:br>
            <a:r>
              <a:rPr lang="en-US" b="0" dirty="0"/>
              <a:t>Wavelength 1.5-1.6 µm (step 0.01 µm) – width 1.2 µm</a:t>
            </a:r>
            <a:endParaRPr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860334"/>
            <a:ext cx="11199971" cy="738664"/>
          </a:xfrm>
          <a:prstGeom prst="rect">
            <a:avLst/>
          </a:prstGeom>
          <a:solidFill>
            <a:schemeClr val="bg1">
              <a:lumMod val="95000"/>
            </a:schemeClr>
          </a:solidFill>
          <a:ln w="28575">
            <a:solidFill>
              <a:srgbClr val="E0700D"/>
            </a:solidFill>
          </a:ln>
        </p:spPr>
        <p:txBody>
          <a:bodyPr wrap="square" rtlCol="0">
            <a:spAutoFit/>
          </a:bodyPr>
          <a:lstStyle/>
          <a:p>
            <a:pPr algn="just"/>
            <a:r>
              <a:rPr lang="es-ES" sz="1400" dirty="0">
                <a:latin typeface="Arial" panose="020B0604020202020204" pitchFamily="34" charset="0"/>
                <a:cs typeface="Arial" panose="020B0604020202020204" pitchFamily="34" charset="0"/>
              </a:rPr>
              <a:t>En ambas guías (</a:t>
            </a:r>
            <a:r>
              <a:rPr lang="es-ES" sz="1400" dirty="0" err="1">
                <a:latin typeface="Arial" panose="020B0604020202020204" pitchFamily="34" charset="0"/>
                <a:cs typeface="Arial" panose="020B0604020202020204" pitchFamily="34" charset="0"/>
              </a:rPr>
              <a:t>Shallow</a:t>
            </a:r>
            <a:r>
              <a:rPr lang="es-ES" sz="1400" dirty="0">
                <a:latin typeface="Arial" panose="020B0604020202020204" pitchFamily="34" charset="0"/>
                <a:cs typeface="Arial" panose="020B0604020202020204" pitchFamily="34" charset="0"/>
              </a:rPr>
              <a:t> y Deep) se observa cierta dispersión, ya que el </a:t>
            </a:r>
            <a:r>
              <a:rPr lang="es-ES" sz="1400" dirty="0" err="1">
                <a:latin typeface="Arial" panose="020B0604020202020204" pitchFamily="34" charset="0"/>
                <a:cs typeface="Arial" panose="020B0604020202020204" pitchFamily="34" charset="0"/>
              </a:rPr>
              <a:t>n_eff</a:t>
            </a:r>
            <a:r>
              <a:rPr lang="es-ES" sz="1400" dirty="0">
                <a:latin typeface="Arial" panose="020B0604020202020204" pitchFamily="34" charset="0"/>
                <a:cs typeface="Arial" panose="020B0604020202020204" pitchFamily="34" charset="0"/>
              </a:rPr>
              <a:t> decrece al aumentar λ. Esto se debe principalmente a la dispersión del material, donde según la ecuación de </a:t>
            </a:r>
            <a:r>
              <a:rPr lang="es-ES" sz="1400" dirty="0" err="1">
                <a:latin typeface="Arial" panose="020B0604020202020204" pitchFamily="34" charset="0"/>
                <a:cs typeface="Arial" panose="020B0604020202020204" pitchFamily="34" charset="0"/>
              </a:rPr>
              <a:t>Sellmeier</a:t>
            </a:r>
            <a:r>
              <a:rPr lang="es-ES" sz="1400" dirty="0">
                <a:latin typeface="Arial" panose="020B0604020202020204" pitchFamily="34" charset="0"/>
                <a:cs typeface="Arial" panose="020B0604020202020204" pitchFamily="34" charset="0"/>
              </a:rPr>
              <a:t> </a:t>
            </a:r>
            <a:r>
              <a:rPr lang="es-ES" sz="1400" dirty="0">
                <a:solidFill>
                  <a:srgbClr val="C00000"/>
                </a:solidFill>
                <a:latin typeface="Arial" panose="020B0604020202020204" pitchFamily="34" charset="0"/>
                <a:cs typeface="Arial" panose="020B0604020202020204" pitchFamily="34" charset="0"/>
              </a:rPr>
              <a:t>(1), </a:t>
            </a:r>
            <a:r>
              <a:rPr lang="es-ES" sz="1400" dirty="0">
                <a:latin typeface="Arial" panose="020B0604020202020204" pitchFamily="34" charset="0"/>
                <a:cs typeface="Arial" panose="020B0604020202020204" pitchFamily="34" charset="0"/>
              </a:rPr>
              <a:t>en el propio n del </a:t>
            </a:r>
            <a:r>
              <a:rPr lang="es-ES" sz="1400" dirty="0" err="1">
                <a:latin typeface="Arial" panose="020B0604020202020204" pitchFamily="34" charset="0"/>
                <a:cs typeface="Arial" panose="020B0604020202020204" pitchFamily="34" charset="0"/>
              </a:rPr>
              <a:t>SiNx</a:t>
            </a:r>
            <a:r>
              <a:rPr lang="es-ES" sz="1400" dirty="0">
                <a:latin typeface="Arial" panose="020B0604020202020204" pitchFamily="34" charset="0"/>
                <a:cs typeface="Arial" panose="020B0604020202020204" pitchFamily="34" charset="0"/>
              </a:rPr>
              <a:t> es inversamente proporcional a λ. A su vez, la dispersión </a:t>
            </a:r>
            <a:r>
              <a:rPr lang="es-ES" sz="1400" dirty="0" err="1">
                <a:latin typeface="Arial" panose="020B0604020202020204" pitchFamily="34" charset="0"/>
                <a:cs typeface="Arial" panose="020B0604020202020204" pitchFamily="34" charset="0"/>
              </a:rPr>
              <a:t>waveguide</a:t>
            </a:r>
            <a:r>
              <a:rPr lang="es-ES" sz="1400" dirty="0">
                <a:latin typeface="Arial" panose="020B0604020202020204" pitchFamily="34" charset="0"/>
                <a:cs typeface="Arial" panose="020B0604020202020204" pitchFamily="34" charset="0"/>
              </a:rPr>
              <a:t> hace efecto, donde a λ más grande, el modo está menos confinado en el núcleo y su </a:t>
            </a:r>
            <a:r>
              <a:rPr lang="es-ES" sz="1400" dirty="0" err="1">
                <a:latin typeface="Arial" panose="020B0604020202020204" pitchFamily="34" charset="0"/>
                <a:cs typeface="Arial" panose="020B0604020202020204" pitchFamily="34" charset="0"/>
              </a:rPr>
              <a:t>n_eff</a:t>
            </a:r>
            <a:r>
              <a:rPr lang="es-ES" sz="1400" dirty="0">
                <a:latin typeface="Arial" panose="020B0604020202020204" pitchFamily="34" charset="0"/>
                <a:cs typeface="Arial" panose="020B0604020202020204" pitchFamily="34" charset="0"/>
              </a:rPr>
              <a:t> se aproxima al de la SiO2. </a:t>
            </a:r>
            <a:endParaRPr lang="en-US" sz="14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88F19863-7091-B8CA-F848-DBEA5CEEA027}"/>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a:extLst>
              <a:ext uri="{FF2B5EF4-FFF2-40B4-BE49-F238E27FC236}">
                <a16:creationId xmlns:a16="http://schemas.microsoft.com/office/drawing/2014/main" id="{21F754A5-65BC-14A3-5F55-75716FFA9027}"/>
              </a:ext>
            </a:extLst>
          </p:cNvPr>
          <p:cNvSpPr/>
          <p:nvPr/>
        </p:nvSpPr>
        <p:spPr>
          <a:xfrm>
            <a:off x="64768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Imagen 9" descr="Gráfico, Gráfico de líneas&#10;&#10;El contenido generado por IA puede ser incorrecto.">
            <a:extLst>
              <a:ext uri="{FF2B5EF4-FFF2-40B4-BE49-F238E27FC236}">
                <a16:creationId xmlns:a16="http://schemas.microsoft.com/office/drawing/2014/main" id="{0EA5F8FD-8881-D425-5675-46FBA697379A}"/>
              </a:ext>
            </a:extLst>
          </p:cNvPr>
          <p:cNvPicPr>
            <a:picLocks noChangeAspect="1"/>
          </p:cNvPicPr>
          <p:nvPr/>
        </p:nvPicPr>
        <p:blipFill>
          <a:blip r:embed="rId5"/>
          <a:stretch>
            <a:fillRect/>
          </a:stretch>
        </p:blipFill>
        <p:spPr>
          <a:xfrm>
            <a:off x="6529822" y="1447800"/>
            <a:ext cx="5204978" cy="3200401"/>
          </a:xfrm>
          <a:prstGeom prst="rect">
            <a:avLst/>
          </a:prstGeom>
        </p:spPr>
      </p:pic>
      <p:pic>
        <p:nvPicPr>
          <p:cNvPr id="12" name="Imagen 11" descr="Gráfico, Gráfico de líneas&#10;&#10;El contenido generado por IA puede ser incorrecto.">
            <a:extLst>
              <a:ext uri="{FF2B5EF4-FFF2-40B4-BE49-F238E27FC236}">
                <a16:creationId xmlns:a16="http://schemas.microsoft.com/office/drawing/2014/main" id="{48126703-B4C9-15BF-F3CE-228ADCEC8C05}"/>
              </a:ext>
            </a:extLst>
          </p:cNvPr>
          <p:cNvPicPr>
            <a:picLocks noChangeAspect="1"/>
          </p:cNvPicPr>
          <p:nvPr/>
        </p:nvPicPr>
        <p:blipFill>
          <a:blip r:embed="rId6"/>
          <a:stretch>
            <a:fillRect/>
          </a:stretch>
        </p:blipFill>
        <p:spPr>
          <a:xfrm>
            <a:off x="719930" y="1510598"/>
            <a:ext cx="5111591" cy="3137603"/>
          </a:xfrm>
          <a:prstGeom prst="rect">
            <a:avLst/>
          </a:prstGeom>
        </p:spPr>
      </p:pic>
      <p:pic>
        <p:nvPicPr>
          <p:cNvPr id="9" name="Imagen 8">
            <a:extLst>
              <a:ext uri="{FF2B5EF4-FFF2-40B4-BE49-F238E27FC236}">
                <a16:creationId xmlns:a16="http://schemas.microsoft.com/office/drawing/2014/main" id="{5314185E-623D-6F81-205B-398E3965AE01}"/>
              </a:ext>
            </a:extLst>
          </p:cNvPr>
          <p:cNvPicPr>
            <a:picLocks noChangeAspect="1"/>
          </p:cNvPicPr>
          <p:nvPr/>
        </p:nvPicPr>
        <p:blipFill>
          <a:blip r:embed="rId7"/>
          <a:stretch>
            <a:fillRect/>
          </a:stretch>
        </p:blipFill>
        <p:spPr>
          <a:xfrm>
            <a:off x="2330751" y="5653160"/>
            <a:ext cx="2698449" cy="1014940"/>
          </a:xfrm>
          <a:prstGeom prst="rect">
            <a:avLst/>
          </a:prstGeom>
        </p:spPr>
      </p:pic>
      <p:sp>
        <p:nvSpPr>
          <p:cNvPr id="11" name="CuadroTexto 10">
            <a:extLst>
              <a:ext uri="{FF2B5EF4-FFF2-40B4-BE49-F238E27FC236}">
                <a16:creationId xmlns:a16="http://schemas.microsoft.com/office/drawing/2014/main" id="{F9D57E72-28F7-72A4-851E-ECEFB9D1773B}"/>
              </a:ext>
            </a:extLst>
          </p:cNvPr>
          <p:cNvSpPr txBox="1"/>
          <p:nvPr/>
        </p:nvSpPr>
        <p:spPr>
          <a:xfrm>
            <a:off x="2440085" y="6056947"/>
            <a:ext cx="471604" cy="400110"/>
          </a:xfrm>
          <a:prstGeom prst="rect">
            <a:avLst/>
          </a:prstGeom>
          <a:noFill/>
        </p:spPr>
        <p:txBody>
          <a:bodyPr wrap="none" rtlCol="0">
            <a:spAutoFit/>
          </a:bodyPr>
          <a:lstStyle/>
          <a:p>
            <a:r>
              <a:rPr lang="es-ES" sz="2000" dirty="0">
                <a:solidFill>
                  <a:srgbClr val="C00000"/>
                </a:solidFill>
              </a:rPr>
              <a:t>(1)</a:t>
            </a:r>
          </a:p>
        </p:txBody>
      </p:sp>
    </p:spTree>
    <p:extLst>
      <p:ext uri="{BB962C8B-B14F-4D97-AF65-F5344CB8AC3E}">
        <p14:creationId xmlns:p14="http://schemas.microsoft.com/office/powerpoint/2010/main" val="3712356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AC1F8-BD33-2C8B-A002-BAC307977FCB}"/>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AAE41594-9606-B852-97E5-9E0ACB1B0FEE}"/>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a:t>
            </a:r>
            <a:r>
              <a:rPr lang="en-US" sz="2500" dirty="0" err="1"/>
              <a:t>Continuación</a:t>
            </a:r>
            <a:r>
              <a:rPr lang="en-US" sz="2500" dirty="0"/>
              <a:t> – Wavelength behavior</a:t>
            </a:r>
            <a:br>
              <a:rPr lang="es-ES" sz="2500" spc="-5" dirty="0">
                <a:latin typeface="+mj-lt"/>
                <a:cs typeface="Lucida Sans"/>
              </a:rPr>
            </a:br>
            <a:r>
              <a:rPr lang="en-US" b="0" dirty="0"/>
              <a:t>Wavelength 1.5-1.6 µm (step 0.01 µm) – width 1.2 µm</a:t>
            </a:r>
            <a:endParaRPr sz="2500" b="0" dirty="0">
              <a:latin typeface="+mj-lt"/>
              <a:cs typeface="Lucida Sans"/>
            </a:endParaRPr>
          </a:p>
        </p:txBody>
      </p:sp>
      <p:pic>
        <p:nvPicPr>
          <p:cNvPr id="83" name="Gráfico 82">
            <a:extLst>
              <a:ext uri="{FF2B5EF4-FFF2-40B4-BE49-F238E27FC236}">
                <a16:creationId xmlns:a16="http://schemas.microsoft.com/office/drawing/2014/main" id="{5C30E9EF-DE76-5513-A066-9229EA47E94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925A3330-1313-7F34-4B15-C5E7C2F9E00A}"/>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EAF81561-6788-3FDA-4D15-1C0186987DA9}"/>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54AF25C7-6A94-41C1-403D-B4FFA92D0FF5}"/>
              </a:ext>
            </a:extLst>
          </p:cNvPr>
          <p:cNvSpPr txBox="1"/>
          <p:nvPr/>
        </p:nvSpPr>
        <p:spPr>
          <a:xfrm>
            <a:off x="609600" y="1371600"/>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s-ES" sz="1400" dirty="0">
                <a:latin typeface="Arial" panose="020B0604020202020204" pitchFamily="34" charset="0"/>
                <a:cs typeface="Arial" panose="020B0604020202020204" pitchFamily="34" charset="0"/>
              </a:rPr>
              <a:t>La guía </a:t>
            </a:r>
            <a:r>
              <a:rPr lang="es-ES" sz="1400" dirty="0" err="1">
                <a:latin typeface="Arial" panose="020B0604020202020204" pitchFamily="34" charset="0"/>
                <a:cs typeface="Arial" panose="020B0604020202020204" pitchFamily="34" charset="0"/>
              </a:rPr>
              <a:t>Shallow</a:t>
            </a:r>
            <a:r>
              <a:rPr lang="es-ES" sz="1400" dirty="0">
                <a:latin typeface="Arial" panose="020B0604020202020204" pitchFamily="34" charset="0"/>
                <a:cs typeface="Arial" panose="020B0604020202020204" pitchFamily="34" charset="0"/>
              </a:rPr>
              <a:t> presenta </a:t>
            </a:r>
            <a:r>
              <a:rPr lang="es-ES" sz="1400" dirty="0" err="1">
                <a:latin typeface="Arial" panose="020B0604020202020204" pitchFamily="34" charset="0"/>
                <a:cs typeface="Arial" panose="020B0604020202020204" pitchFamily="34" charset="0"/>
              </a:rPr>
              <a:t>n_eff</a:t>
            </a:r>
            <a:r>
              <a:rPr lang="es-ES" sz="1400" dirty="0">
                <a:latin typeface="Arial" panose="020B0604020202020204" pitchFamily="34" charset="0"/>
                <a:cs typeface="Arial" panose="020B0604020202020204" pitchFamily="34" charset="0"/>
              </a:rPr>
              <a:t> ligeramente mayor que la </a:t>
            </a:r>
            <a:r>
              <a:rPr lang="es-ES" sz="1400" dirty="0" err="1">
                <a:latin typeface="Arial" panose="020B0604020202020204" pitchFamily="34" charset="0"/>
                <a:cs typeface="Arial" panose="020B0604020202020204" pitchFamily="34" charset="0"/>
              </a:rPr>
              <a:t>deep</a:t>
            </a:r>
            <a:r>
              <a:rPr lang="es-ES" sz="1400" dirty="0">
                <a:latin typeface="Arial" panose="020B0604020202020204" pitchFamily="34" charset="0"/>
                <a:cs typeface="Arial" panose="020B0604020202020204" pitchFamily="34" charset="0"/>
              </a:rPr>
              <a:t> para los modos de orden superior. El </a:t>
            </a:r>
            <a:r>
              <a:rPr lang="es-ES" sz="1400" dirty="0" err="1">
                <a:latin typeface="Arial" panose="020B0604020202020204" pitchFamily="34" charset="0"/>
                <a:cs typeface="Arial" panose="020B0604020202020204" pitchFamily="34" charset="0"/>
              </a:rPr>
              <a:t>slab</a:t>
            </a:r>
            <a:r>
              <a:rPr lang="es-ES" sz="1400" dirty="0">
                <a:latin typeface="Arial" panose="020B0604020202020204" pitchFamily="34" charset="0"/>
                <a:cs typeface="Arial" panose="020B0604020202020204" pitchFamily="34" charset="0"/>
              </a:rPr>
              <a:t> de 150nm actúa como una capa de guía adicional que incrementa el confinamiento en el eje vertical, elevando los índices efectivos de los modos híbridos.</a:t>
            </a:r>
          </a:p>
          <a:p>
            <a:pPr algn="just"/>
            <a:endParaRPr lang="es-ES" sz="1400" dirty="0">
              <a:latin typeface="Arial" panose="020B0604020202020204" pitchFamily="34" charset="0"/>
              <a:cs typeface="Arial" panose="020B0604020202020204" pitchFamily="34" charset="0"/>
            </a:endParaRPr>
          </a:p>
          <a:p>
            <a:pPr algn="just"/>
            <a:r>
              <a:rPr lang="es-ES" sz="1400" dirty="0">
                <a:latin typeface="Arial" panose="020B0604020202020204" pitchFamily="34" charset="0"/>
                <a:cs typeface="Arial" panose="020B0604020202020204" pitchFamily="34" charset="0"/>
              </a:rPr>
              <a:t>Adicionalmente, en la guía </a:t>
            </a:r>
            <a:r>
              <a:rPr lang="es-ES" sz="1400" dirty="0" err="1">
                <a:latin typeface="Arial" panose="020B0604020202020204" pitchFamily="34" charset="0"/>
                <a:cs typeface="Arial" panose="020B0604020202020204" pitchFamily="34" charset="0"/>
              </a:rPr>
              <a:t>Shallow</a:t>
            </a:r>
            <a:r>
              <a:rPr lang="es-ES" sz="1400" dirty="0">
                <a:latin typeface="Arial" panose="020B0604020202020204" pitchFamily="34" charset="0"/>
                <a:cs typeface="Arial" panose="020B0604020202020204" pitchFamily="34" charset="0"/>
              </a:rPr>
              <a:t> aparecen modos con </a:t>
            </a:r>
            <a:r>
              <a:rPr lang="es-ES" sz="1400" dirty="0" err="1">
                <a:latin typeface="Arial" panose="020B0604020202020204" pitchFamily="34" charset="0"/>
                <a:cs typeface="Arial" panose="020B0604020202020204" pitchFamily="34" charset="0"/>
              </a:rPr>
              <a:t>fraction_TE</a:t>
            </a:r>
            <a:r>
              <a:rPr lang="es-ES" sz="1400" dirty="0">
                <a:latin typeface="Arial" panose="020B0604020202020204" pitchFamily="34" charset="0"/>
                <a:cs typeface="Arial" panose="020B0604020202020204" pitchFamily="34" charset="0"/>
              </a:rPr>
              <a:t> intermedia (0.71, 0.18), indicando hibridación modal. La asimetría introducida por el </a:t>
            </a:r>
            <a:r>
              <a:rPr lang="es-ES" sz="1400" dirty="0" err="1">
                <a:latin typeface="Arial" panose="020B0604020202020204" pitchFamily="34" charset="0"/>
                <a:cs typeface="Arial" panose="020B0604020202020204" pitchFamily="34" charset="0"/>
              </a:rPr>
              <a:t>slab</a:t>
            </a:r>
            <a:r>
              <a:rPr lang="es-ES" sz="1400" dirty="0">
                <a:latin typeface="Arial" panose="020B0604020202020204" pitchFamily="34" charset="0"/>
                <a:cs typeface="Arial" panose="020B0604020202020204" pitchFamily="34" charset="0"/>
              </a:rPr>
              <a:t> rompe la separación limpia entre polarizaciones TE y TM, generando modos que mezclan ambas. En la guía </a:t>
            </a:r>
            <a:r>
              <a:rPr lang="es-ES" sz="1400" dirty="0" err="1">
                <a:latin typeface="Arial" panose="020B0604020202020204" pitchFamily="34" charset="0"/>
                <a:cs typeface="Arial" panose="020B0604020202020204" pitchFamily="34" charset="0"/>
              </a:rPr>
              <a:t>deep</a:t>
            </a:r>
            <a:r>
              <a:rPr lang="es-ES" sz="1400" dirty="0">
                <a:latin typeface="Arial" panose="020B0604020202020204" pitchFamily="34" charset="0"/>
                <a:cs typeface="Arial" panose="020B0604020202020204" pitchFamily="34" charset="0"/>
              </a:rPr>
              <a:t>, perfectamente simétrica verticalmente, los modos mantienen polarizaciones bien definidas.</a:t>
            </a:r>
            <a:endParaRPr lang="en-US" sz="1400" dirty="0">
              <a:latin typeface="Arial" panose="020B0604020202020204" pitchFamily="34" charset="0"/>
              <a:cs typeface="Arial" panose="020B0604020202020204" pitchFamily="34" charset="0"/>
            </a:endParaRPr>
          </a:p>
        </p:txBody>
      </p:sp>
      <p:pic>
        <p:nvPicPr>
          <p:cNvPr id="6" name="Imagen 5">
            <a:extLst>
              <a:ext uri="{FF2B5EF4-FFF2-40B4-BE49-F238E27FC236}">
                <a16:creationId xmlns:a16="http://schemas.microsoft.com/office/drawing/2014/main" id="{51EA2BE4-239D-EDBB-CB8B-9E2E1F685FF8}"/>
              </a:ext>
            </a:extLst>
          </p:cNvPr>
          <p:cNvPicPr>
            <a:picLocks noChangeAspect="1"/>
          </p:cNvPicPr>
          <p:nvPr/>
        </p:nvPicPr>
        <p:blipFill>
          <a:blip r:embed="rId5"/>
          <a:stretch>
            <a:fillRect/>
          </a:stretch>
        </p:blipFill>
        <p:spPr>
          <a:xfrm>
            <a:off x="6858000" y="3129280"/>
            <a:ext cx="3141518" cy="2548779"/>
          </a:xfrm>
          <a:prstGeom prst="rect">
            <a:avLst/>
          </a:prstGeom>
        </p:spPr>
      </p:pic>
      <p:pic>
        <p:nvPicPr>
          <p:cNvPr id="13" name="Imagen 12">
            <a:extLst>
              <a:ext uri="{FF2B5EF4-FFF2-40B4-BE49-F238E27FC236}">
                <a16:creationId xmlns:a16="http://schemas.microsoft.com/office/drawing/2014/main" id="{6CCA4AFE-E963-CA67-8C2E-902E9BA067D4}"/>
              </a:ext>
            </a:extLst>
          </p:cNvPr>
          <p:cNvPicPr>
            <a:picLocks noChangeAspect="1"/>
          </p:cNvPicPr>
          <p:nvPr/>
        </p:nvPicPr>
        <p:blipFill>
          <a:blip r:embed="rId6"/>
          <a:stretch>
            <a:fillRect/>
          </a:stretch>
        </p:blipFill>
        <p:spPr>
          <a:xfrm>
            <a:off x="1843618" y="3136165"/>
            <a:ext cx="3141518" cy="2536813"/>
          </a:xfrm>
          <a:prstGeom prst="rect">
            <a:avLst/>
          </a:prstGeom>
        </p:spPr>
      </p:pic>
    </p:spTree>
    <p:extLst>
      <p:ext uri="{BB962C8B-B14F-4D97-AF65-F5344CB8AC3E}">
        <p14:creationId xmlns:p14="http://schemas.microsoft.com/office/powerpoint/2010/main" val="1985738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Width dependence</a:t>
            </a:r>
            <a:br>
              <a:rPr lang="es-ES" sz="2500" spc="-5" dirty="0">
                <a:latin typeface="+mj-lt"/>
                <a:cs typeface="Lucida Sans"/>
              </a:rPr>
            </a:br>
            <a:r>
              <a:rPr lang="en-US" b="0" dirty="0"/>
              <a:t>Width 0.6 - 1.6 µm (step 0.1 µm) – Wavelength 1.55 µm </a:t>
            </a:r>
            <a:endParaRPr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648200"/>
            <a:ext cx="11199971" cy="1600438"/>
          </a:xfrm>
          <a:prstGeom prst="rect">
            <a:avLst/>
          </a:prstGeom>
          <a:solidFill>
            <a:schemeClr val="bg1">
              <a:lumMod val="95000"/>
            </a:schemeClr>
          </a:solidFill>
          <a:ln w="28575">
            <a:solidFill>
              <a:srgbClr val="E0700D"/>
            </a:solidFill>
          </a:ln>
        </p:spPr>
        <p:txBody>
          <a:bodyPr wrap="square" rtlCol="0">
            <a:spAutoFit/>
          </a:bodyPr>
          <a:lstStyle/>
          <a:p>
            <a:pPr algn="just"/>
            <a:r>
              <a:rPr lang="es-ES" sz="1400" dirty="0">
                <a:latin typeface="Arial" panose="020B0604020202020204" pitchFamily="34" charset="0"/>
                <a:cs typeface="Arial" panose="020B0604020202020204" pitchFamily="34" charset="0"/>
              </a:rPr>
              <a:t>A medida que incrementamos el ancho de la guía, </a:t>
            </a:r>
            <a:r>
              <a:rPr lang="es-ES" sz="1400" dirty="0" err="1">
                <a:latin typeface="Arial" panose="020B0604020202020204" pitchFamily="34" charset="0"/>
                <a:cs typeface="Arial" panose="020B0604020202020204" pitchFamily="34" charset="0"/>
              </a:rPr>
              <a:t>n_eff</a:t>
            </a:r>
            <a:r>
              <a:rPr lang="es-ES" sz="1400" dirty="0">
                <a:latin typeface="Arial" panose="020B0604020202020204" pitchFamily="34" charset="0"/>
                <a:cs typeface="Arial" panose="020B0604020202020204" pitchFamily="34" charset="0"/>
              </a:rPr>
              <a:t> crece para todos los modos al quedar el campo más confinado en el núcleo (mayor n). En este caso, el efecto es más pronunciado en los modos TE que en TM, dado que TE tiene su campo eléctrico en el eje horizontal, por lo que el ancho lateral afecta directamente su confinamiento.</a:t>
            </a:r>
          </a:p>
          <a:p>
            <a:pPr algn="just"/>
            <a:endParaRPr lang="es-ES" sz="1400" dirty="0">
              <a:latin typeface="Arial" panose="020B0604020202020204" pitchFamily="34" charset="0"/>
              <a:cs typeface="Arial" panose="020B0604020202020204" pitchFamily="34" charset="0"/>
            </a:endParaRPr>
          </a:p>
          <a:p>
            <a:pPr algn="just"/>
            <a:r>
              <a:rPr lang="es-ES" sz="1400" dirty="0">
                <a:latin typeface="Arial" panose="020B0604020202020204" pitchFamily="34" charset="0"/>
                <a:cs typeface="Arial" panose="020B0604020202020204" pitchFamily="34" charset="0"/>
              </a:rPr>
              <a:t>Centrándonos en la polarización, a anchos pequeños, los modos de orden superior (</a:t>
            </a:r>
            <a:r>
              <a:rPr lang="es-ES" sz="1400" dirty="0" err="1">
                <a:solidFill>
                  <a:srgbClr val="00B050"/>
                </a:solidFill>
                <a:latin typeface="Arial" panose="020B0604020202020204" pitchFamily="34" charset="0"/>
                <a:cs typeface="Arial" panose="020B0604020202020204" pitchFamily="34" charset="0"/>
              </a:rPr>
              <a:t>Mode</a:t>
            </a:r>
            <a:r>
              <a:rPr lang="es-ES" sz="1400" dirty="0">
                <a:solidFill>
                  <a:srgbClr val="00B050"/>
                </a:solidFill>
                <a:latin typeface="Arial" panose="020B0604020202020204" pitchFamily="34" charset="0"/>
                <a:cs typeface="Arial" panose="020B0604020202020204" pitchFamily="34" charset="0"/>
              </a:rPr>
              <a:t> 2</a:t>
            </a:r>
            <a:r>
              <a:rPr lang="es-ES" sz="1400" dirty="0">
                <a:latin typeface="Arial" panose="020B0604020202020204" pitchFamily="34" charset="0"/>
                <a:cs typeface="Arial" panose="020B0604020202020204" pitchFamily="34" charset="0"/>
              </a:rPr>
              <a:t>, </a:t>
            </a:r>
            <a:r>
              <a:rPr lang="es-ES" sz="1400" dirty="0" err="1">
                <a:solidFill>
                  <a:srgbClr val="FF0000"/>
                </a:solidFill>
                <a:latin typeface="Arial" panose="020B0604020202020204" pitchFamily="34" charset="0"/>
                <a:cs typeface="Arial" panose="020B0604020202020204" pitchFamily="34" charset="0"/>
              </a:rPr>
              <a:t>Mode</a:t>
            </a:r>
            <a:r>
              <a:rPr lang="es-ES" sz="1400" dirty="0">
                <a:solidFill>
                  <a:srgbClr val="FF0000"/>
                </a:solidFill>
                <a:latin typeface="Arial" panose="020B0604020202020204" pitchFamily="34" charset="0"/>
                <a:cs typeface="Arial" panose="020B0604020202020204" pitchFamily="34" charset="0"/>
              </a:rPr>
              <a:t> 3 </a:t>
            </a:r>
            <a:r>
              <a:rPr lang="es-ES" sz="1400" dirty="0">
                <a:latin typeface="Arial" panose="020B0604020202020204" pitchFamily="34" charset="0"/>
                <a:cs typeface="Arial" panose="020B0604020202020204" pitchFamily="34" charset="0"/>
              </a:rPr>
              <a:t>en la gráfica) presentan TE </a:t>
            </a:r>
            <a:r>
              <a:rPr lang="es-ES" sz="1400" dirty="0" err="1">
                <a:latin typeface="Arial" panose="020B0604020202020204" pitchFamily="34" charset="0"/>
                <a:cs typeface="Arial" panose="020B0604020202020204" pitchFamily="34" charset="0"/>
              </a:rPr>
              <a:t>Fraction</a:t>
            </a:r>
            <a:r>
              <a:rPr lang="es-ES" sz="1400" dirty="0">
                <a:latin typeface="Arial" panose="020B0604020202020204" pitchFamily="34" charset="0"/>
                <a:cs typeface="Arial" panose="020B0604020202020204" pitchFamily="34" charset="0"/>
              </a:rPr>
              <a:t> intermedia, indicando hibridación. Al aumentar el ancho, el confinamiento lateral aumenta y la separación en </a:t>
            </a:r>
            <a:r>
              <a:rPr lang="es-ES" sz="1400" dirty="0" err="1">
                <a:latin typeface="Arial" panose="020B0604020202020204" pitchFamily="34" charset="0"/>
                <a:cs typeface="Arial" panose="020B0604020202020204" pitchFamily="34" charset="0"/>
              </a:rPr>
              <a:t>n_eff</a:t>
            </a:r>
            <a:r>
              <a:rPr lang="es-ES" sz="1400" dirty="0">
                <a:latin typeface="Arial" panose="020B0604020202020204" pitchFamily="34" charset="0"/>
                <a:cs typeface="Arial" panose="020B0604020202020204" pitchFamily="34" charset="0"/>
              </a:rPr>
              <a:t> entre modos crece, reduciendo el acoplamiento entre polarizaciones y generando modos más puros.</a:t>
            </a:r>
            <a:endParaRPr lang="en-US" sz="14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FBC7D187-267A-ADD4-764C-D3820B8ED302}"/>
              </a:ext>
            </a:extLst>
          </p:cNvPr>
          <p:cNvSpPr/>
          <p:nvPr/>
        </p:nvSpPr>
        <p:spPr>
          <a:xfrm>
            <a:off x="609441" y="121920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descr="Gráfico, Gráfico de líneas&#10;&#10;El contenido generado por IA puede ser incorrecto.">
            <a:extLst>
              <a:ext uri="{FF2B5EF4-FFF2-40B4-BE49-F238E27FC236}">
                <a16:creationId xmlns:a16="http://schemas.microsoft.com/office/drawing/2014/main" id="{6739BB79-2B32-46C1-2450-9CF595B171B6}"/>
              </a:ext>
            </a:extLst>
          </p:cNvPr>
          <p:cNvPicPr>
            <a:picLocks noChangeAspect="1"/>
          </p:cNvPicPr>
          <p:nvPr/>
        </p:nvPicPr>
        <p:blipFill>
          <a:blip r:embed="rId5"/>
          <a:stretch>
            <a:fillRect/>
          </a:stretch>
        </p:blipFill>
        <p:spPr>
          <a:xfrm>
            <a:off x="3533775" y="1382605"/>
            <a:ext cx="5124450" cy="2983162"/>
          </a:xfrm>
          <a:prstGeom prst="rect">
            <a:avLst/>
          </a:prstGeom>
        </p:spPr>
      </p:pic>
    </p:spTree>
    <p:extLst>
      <p:ext uri="{BB962C8B-B14F-4D97-AF65-F5344CB8AC3E}">
        <p14:creationId xmlns:p14="http://schemas.microsoft.com/office/powerpoint/2010/main" val="2900117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E74BE-AED3-40CD-F06E-F9809FE996B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0E575FC1-3816-9330-F834-EE4E5930B3B9}"/>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a:t>
            </a:r>
            <a:r>
              <a:rPr lang="en-US" sz="2500" dirty="0" err="1"/>
              <a:t>Continuación</a:t>
            </a:r>
            <a:r>
              <a:rPr lang="en-US" sz="2500" dirty="0"/>
              <a:t> – Width dependence</a:t>
            </a:r>
            <a:br>
              <a:rPr lang="es-ES" sz="2500" spc="-5" dirty="0">
                <a:latin typeface="+mj-lt"/>
                <a:cs typeface="Lucida Sans"/>
              </a:rPr>
            </a:br>
            <a:r>
              <a:rPr lang="en-US" b="0" dirty="0"/>
              <a:t>Width 0.6 - 1.6 µm (step 0.1 µm) – Wavelength 1.55 µm </a:t>
            </a:r>
            <a:endParaRPr sz="2500" b="0" dirty="0">
              <a:latin typeface="+mj-lt"/>
              <a:cs typeface="Lucida Sans"/>
            </a:endParaRPr>
          </a:p>
        </p:txBody>
      </p:sp>
      <p:pic>
        <p:nvPicPr>
          <p:cNvPr id="83" name="Gráfico 82">
            <a:extLst>
              <a:ext uri="{FF2B5EF4-FFF2-40B4-BE49-F238E27FC236}">
                <a16:creationId xmlns:a16="http://schemas.microsoft.com/office/drawing/2014/main" id="{90782868-1987-D926-5A68-BF8ADB7600A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CBE78DD7-E5C0-C87D-AC2F-4F5F2E1CDC4F}"/>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DE0DF6EE-927B-235B-0BB7-5C347948A681}"/>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35762BB9-02DE-374A-6AD2-B5F5CAE884B7}"/>
              </a:ext>
            </a:extLst>
          </p:cNvPr>
          <p:cNvSpPr txBox="1"/>
          <p:nvPr/>
        </p:nvSpPr>
        <p:spPr>
          <a:xfrm>
            <a:off x="496014" y="1219200"/>
            <a:ext cx="11199971" cy="738664"/>
          </a:xfrm>
          <a:prstGeom prst="rect">
            <a:avLst/>
          </a:prstGeom>
          <a:solidFill>
            <a:schemeClr val="bg1">
              <a:lumMod val="95000"/>
            </a:schemeClr>
          </a:solidFill>
          <a:ln w="28575">
            <a:solidFill>
              <a:srgbClr val="E0700D"/>
            </a:solidFill>
          </a:ln>
        </p:spPr>
        <p:txBody>
          <a:bodyPr wrap="square" rtlCol="0">
            <a:spAutoFit/>
          </a:bodyPr>
          <a:lstStyle/>
          <a:p>
            <a:pPr algn="just"/>
            <a:r>
              <a:rPr lang="es-ES" sz="1400" dirty="0">
                <a:latin typeface="Arial" panose="020B0604020202020204" pitchFamily="34" charset="0"/>
                <a:cs typeface="Arial" panose="020B0604020202020204" pitchFamily="34" charset="0"/>
              </a:rPr>
              <a:t>Finalmente, para anchos pequeños observamos que los modos 2 y 3 tienen </a:t>
            </a:r>
            <a:r>
              <a:rPr lang="es-ES" sz="1400" dirty="0" err="1">
                <a:latin typeface="Arial" panose="020B0604020202020204" pitchFamily="34" charset="0"/>
                <a:cs typeface="Arial" panose="020B0604020202020204" pitchFamily="34" charset="0"/>
              </a:rPr>
              <a:t>n_eff</a:t>
            </a:r>
            <a:r>
              <a:rPr lang="es-ES" sz="1400" dirty="0">
                <a:latin typeface="Arial" panose="020B0604020202020204" pitchFamily="34" charset="0"/>
                <a:cs typeface="Arial" panose="020B0604020202020204" pitchFamily="34" charset="0"/>
              </a:rPr>
              <a:t> muy próximo al </a:t>
            </a:r>
            <a:r>
              <a:rPr lang="es-ES" sz="1400" dirty="0" err="1">
                <a:latin typeface="Arial" panose="020B0604020202020204" pitchFamily="34" charset="0"/>
                <a:cs typeface="Arial" panose="020B0604020202020204" pitchFamily="34" charset="0"/>
              </a:rPr>
              <a:t>n_cladding</a:t>
            </a:r>
            <a:r>
              <a:rPr lang="es-ES" sz="1400" dirty="0">
                <a:latin typeface="Arial" panose="020B0604020202020204" pitchFamily="34" charset="0"/>
                <a:cs typeface="Arial" panose="020B0604020202020204" pitchFamily="34" charset="0"/>
              </a:rPr>
              <a:t>, lo que significa que están próximos al corte. Esto significa que cerca de 1.1µm para el Modo 2, y 1.4µm para el Modo 3, se alcanzaría la condición de guía monomodo, descartando los anchos menores a estos al ser </a:t>
            </a:r>
            <a:r>
              <a:rPr lang="es-ES" sz="1400" dirty="0" err="1">
                <a:latin typeface="Arial" panose="020B0604020202020204" pitchFamily="34" charset="0"/>
                <a:cs typeface="Arial" panose="020B0604020202020204" pitchFamily="34" charset="0"/>
              </a:rPr>
              <a:t>n_eff</a:t>
            </a:r>
            <a:r>
              <a:rPr lang="es-ES" sz="1400" dirty="0">
                <a:latin typeface="Arial" panose="020B0604020202020204" pitchFamily="34" charset="0"/>
                <a:cs typeface="Arial" panose="020B0604020202020204" pitchFamily="34" charset="0"/>
              </a:rPr>
              <a:t> &lt; </a:t>
            </a:r>
            <a:r>
              <a:rPr lang="es-ES" sz="1400" dirty="0" err="1">
                <a:latin typeface="Arial" panose="020B0604020202020204" pitchFamily="34" charset="0"/>
                <a:cs typeface="Arial" panose="020B0604020202020204" pitchFamily="34" charset="0"/>
              </a:rPr>
              <a:t>n_cladding</a:t>
            </a:r>
            <a:r>
              <a:rPr lang="es-ES" sz="1400" dirty="0">
                <a:latin typeface="Arial" panose="020B0604020202020204" pitchFamily="34" charset="0"/>
                <a:cs typeface="Arial" panose="020B0604020202020204" pitchFamily="34" charset="0"/>
              </a:rPr>
              <a:t>. </a:t>
            </a:r>
            <a:endParaRPr lang="en-US" sz="1400" dirty="0">
              <a:latin typeface="Arial" panose="020B0604020202020204" pitchFamily="34" charset="0"/>
              <a:cs typeface="Arial" panose="020B0604020202020204" pitchFamily="34" charset="0"/>
            </a:endParaRPr>
          </a:p>
        </p:txBody>
      </p:sp>
      <p:pic>
        <p:nvPicPr>
          <p:cNvPr id="15" name="Imagen 14">
            <a:extLst>
              <a:ext uri="{FF2B5EF4-FFF2-40B4-BE49-F238E27FC236}">
                <a16:creationId xmlns:a16="http://schemas.microsoft.com/office/drawing/2014/main" id="{212E71D2-7D2D-2BAD-2718-436476440756}"/>
              </a:ext>
            </a:extLst>
          </p:cNvPr>
          <p:cNvPicPr>
            <a:picLocks noChangeAspect="1"/>
          </p:cNvPicPr>
          <p:nvPr/>
        </p:nvPicPr>
        <p:blipFill>
          <a:blip r:embed="rId5"/>
          <a:stretch>
            <a:fillRect/>
          </a:stretch>
        </p:blipFill>
        <p:spPr>
          <a:xfrm>
            <a:off x="1905711" y="2062860"/>
            <a:ext cx="2894178" cy="4054217"/>
          </a:xfrm>
          <a:prstGeom prst="rect">
            <a:avLst/>
          </a:prstGeom>
        </p:spPr>
      </p:pic>
      <p:pic>
        <p:nvPicPr>
          <p:cNvPr id="18" name="Imagen 17">
            <a:extLst>
              <a:ext uri="{FF2B5EF4-FFF2-40B4-BE49-F238E27FC236}">
                <a16:creationId xmlns:a16="http://schemas.microsoft.com/office/drawing/2014/main" id="{44426684-88D9-3D1D-F9E1-2A1347EC6C7A}"/>
              </a:ext>
            </a:extLst>
          </p:cNvPr>
          <p:cNvPicPr>
            <a:picLocks noChangeAspect="1"/>
          </p:cNvPicPr>
          <p:nvPr/>
        </p:nvPicPr>
        <p:blipFill>
          <a:blip r:embed="rId6"/>
          <a:stretch>
            <a:fillRect/>
          </a:stretch>
        </p:blipFill>
        <p:spPr>
          <a:xfrm>
            <a:off x="7392113" y="2062859"/>
            <a:ext cx="2541188" cy="4054217"/>
          </a:xfrm>
          <a:prstGeom prst="rect">
            <a:avLst/>
          </a:prstGeom>
        </p:spPr>
      </p:pic>
    </p:spTree>
    <p:extLst>
      <p:ext uri="{BB962C8B-B14F-4D97-AF65-F5344CB8AC3E}">
        <p14:creationId xmlns:p14="http://schemas.microsoft.com/office/powerpoint/2010/main" val="36179631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DA0F9-B230-D9FC-3CE7-03BD08CF54F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94400B4-EE16-8E85-AB54-E82FE3B29345}"/>
              </a:ext>
            </a:extLst>
          </p:cNvPr>
          <p:cNvSpPr txBox="1">
            <a:spLocks noGrp="1"/>
          </p:cNvSpPr>
          <p:nvPr>
            <p:ph type="title"/>
          </p:nvPr>
        </p:nvSpPr>
        <p:spPr>
          <a:xfrm>
            <a:off x="685800" y="408883"/>
            <a:ext cx="10994410" cy="1397819"/>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Waveguide compact model</a:t>
            </a:r>
            <a:br>
              <a:rPr lang="en-US" sz="2500" spc="-5" dirty="0">
                <a:latin typeface="+mj-lt"/>
                <a:cs typeface="Lucida Sans"/>
              </a:rPr>
            </a:br>
            <a:r>
              <a:rPr lang="en-US" b="0" dirty="0"/>
              <a:t>- Find the compact models of the following waveguides: </a:t>
            </a:r>
            <a:br>
              <a:rPr lang="en-US" b="0" dirty="0"/>
            </a:br>
            <a:r>
              <a:rPr lang="en-US" dirty="0"/>
              <a:t>Deep</a:t>
            </a:r>
            <a:r>
              <a:rPr lang="en-US" b="0" dirty="0"/>
              <a:t> waveguide, h=300nm, w=1.2um   - </a:t>
            </a:r>
            <a:r>
              <a:rPr lang="en-US" dirty="0"/>
              <a:t>Shallow</a:t>
            </a:r>
            <a:r>
              <a:rPr lang="en-US" b="0" dirty="0"/>
              <a:t> waveguide, core h=300nm, slab h=150 nm, w = 1.2um </a:t>
            </a:r>
            <a:br>
              <a:rPr lang="en-US" b="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4D53B68D-17ED-7EFB-F2B4-10DA7A772E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9AB8697-C1EE-6E9A-6550-ACA2C3AE6630}"/>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970D4A6C-5B37-EDF5-6242-74B16127E96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A440F587-93A3-E474-C0B0-883BB9DAFD85}"/>
              </a:ext>
            </a:extLst>
          </p:cNvPr>
          <p:cNvSpPr txBox="1"/>
          <p:nvPr/>
        </p:nvSpPr>
        <p:spPr>
          <a:xfrm>
            <a:off x="609441" y="4860334"/>
            <a:ext cx="11198542" cy="738664"/>
          </a:xfrm>
          <a:prstGeom prst="rect">
            <a:avLst/>
          </a:prstGeom>
          <a:solidFill>
            <a:schemeClr val="bg1">
              <a:lumMod val="95000"/>
            </a:schemeClr>
          </a:solidFill>
          <a:ln w="28575">
            <a:solidFill>
              <a:srgbClr val="E0700D"/>
            </a:solidFill>
          </a:ln>
        </p:spPr>
        <p:txBody>
          <a:bodyPr wrap="square" rtlCol="0">
            <a:spAutoFit/>
          </a:bodyPr>
          <a:lstStyle/>
          <a:p>
            <a:r>
              <a:rPr lang="es-ES" sz="1400" dirty="0">
                <a:latin typeface="Arial" panose="020B0604020202020204" pitchFamily="34" charset="0"/>
                <a:cs typeface="Arial" panose="020B0604020202020204" pitchFamily="34" charset="0"/>
              </a:rPr>
              <a:t>El modelo compacto ajusta </a:t>
            </a:r>
            <a:r>
              <a:rPr lang="es-ES" sz="1400" dirty="0" err="1">
                <a:latin typeface="Arial" panose="020B0604020202020204" pitchFamily="34" charset="0"/>
                <a:cs typeface="Arial" panose="020B0604020202020204" pitchFamily="34" charset="0"/>
              </a:rPr>
              <a:t>n_eff</a:t>
            </a:r>
            <a:r>
              <a:rPr lang="es-ES" sz="1400" dirty="0">
                <a:latin typeface="Arial" panose="020B0604020202020204" pitchFamily="34" charset="0"/>
                <a:cs typeface="Arial" panose="020B0604020202020204" pitchFamily="34" charset="0"/>
              </a:rPr>
              <a:t>(λ) con un polinomio de segundo orden, del que se extraen directamente: </a:t>
            </a:r>
            <a:r>
              <a:rPr lang="es-ES" sz="1400" dirty="0" err="1">
                <a:latin typeface="Arial" panose="020B0604020202020204" pitchFamily="34" charset="0"/>
                <a:cs typeface="Arial" panose="020B0604020202020204" pitchFamily="34" charset="0"/>
              </a:rPr>
              <a:t>n_eff</a:t>
            </a:r>
            <a:r>
              <a:rPr lang="es-ES" sz="1400" dirty="0">
                <a:latin typeface="Arial" panose="020B0604020202020204" pitchFamily="34" charset="0"/>
                <a:cs typeface="Arial" panose="020B0604020202020204" pitchFamily="34" charset="0"/>
              </a:rPr>
              <a:t> a λ₀ </a:t>
            </a:r>
            <a:r>
              <a:rPr lang="es-ES" sz="1400" dirty="0">
                <a:solidFill>
                  <a:srgbClr val="C00000"/>
                </a:solidFill>
                <a:latin typeface="Arial" panose="020B0604020202020204" pitchFamily="34" charset="0"/>
                <a:cs typeface="Arial" panose="020B0604020202020204" pitchFamily="34" charset="0"/>
              </a:rPr>
              <a:t>(2) </a:t>
            </a:r>
            <a:r>
              <a:rPr lang="es-ES" sz="1400" dirty="0">
                <a:latin typeface="Arial" panose="020B0604020202020204" pitchFamily="34" charset="0"/>
                <a:cs typeface="Arial" panose="020B0604020202020204" pitchFamily="34" charset="0"/>
              </a:rPr>
              <a:t>, el índice de grupo </a:t>
            </a:r>
            <a:r>
              <a:rPr lang="es-ES" sz="1400" dirty="0" err="1">
                <a:latin typeface="Arial" panose="020B0604020202020204" pitchFamily="34" charset="0"/>
                <a:cs typeface="Arial" panose="020B0604020202020204" pitchFamily="34" charset="0"/>
              </a:rPr>
              <a:t>n_g</a:t>
            </a:r>
            <a:r>
              <a:rPr lang="es-ES" sz="1400" dirty="0">
                <a:latin typeface="Arial" panose="020B0604020202020204" pitchFamily="34" charset="0"/>
                <a:cs typeface="Arial" panose="020B0604020202020204" pitchFamily="34" charset="0"/>
              </a:rPr>
              <a:t> </a:t>
            </a:r>
            <a:r>
              <a:rPr lang="es-ES" sz="1400" dirty="0">
                <a:solidFill>
                  <a:srgbClr val="C00000"/>
                </a:solidFill>
                <a:latin typeface="Arial" panose="020B0604020202020204" pitchFamily="34" charset="0"/>
                <a:cs typeface="Arial" panose="020B0604020202020204" pitchFamily="34" charset="0"/>
              </a:rPr>
              <a:t>(3) </a:t>
            </a:r>
            <a:r>
              <a:rPr lang="es-ES" sz="1400" dirty="0">
                <a:latin typeface="Arial" panose="020B0604020202020204" pitchFamily="34" charset="0"/>
                <a:cs typeface="Arial" panose="020B0604020202020204" pitchFamily="34" charset="0"/>
              </a:rPr>
              <a:t>y el parámetro de dispersión D </a:t>
            </a:r>
            <a:r>
              <a:rPr lang="es-ES" sz="1400" dirty="0">
                <a:solidFill>
                  <a:srgbClr val="C00000"/>
                </a:solidFill>
                <a:latin typeface="Arial" panose="020B0604020202020204" pitchFamily="34" charset="0"/>
                <a:cs typeface="Arial" panose="020B0604020202020204" pitchFamily="34" charset="0"/>
              </a:rPr>
              <a:t>(4)</a:t>
            </a:r>
            <a:r>
              <a:rPr lang="es-ES" sz="1400" dirty="0">
                <a:latin typeface="Arial" panose="020B0604020202020204" pitchFamily="34" charset="0"/>
                <a:cs typeface="Arial" panose="020B0604020202020204" pitchFamily="34" charset="0"/>
              </a:rPr>
              <a:t>. Este modelo es la base de la función de transferencia del </a:t>
            </a:r>
            <a:r>
              <a:rPr lang="es-ES" sz="1400" dirty="0" err="1">
                <a:latin typeface="Arial" panose="020B0604020202020204" pitchFamily="34" charset="0"/>
                <a:cs typeface="Arial" panose="020B0604020202020204" pitchFamily="34" charset="0"/>
              </a:rPr>
              <a:t>waveguide</a:t>
            </a:r>
            <a:r>
              <a:rPr lang="es-ES" sz="1400" dirty="0">
                <a:latin typeface="Arial" panose="020B0604020202020204" pitchFamily="34" charset="0"/>
                <a:cs typeface="Arial" panose="020B0604020202020204" pitchFamily="34" charset="0"/>
              </a:rPr>
              <a:t> en simulaciones de circuitos.</a:t>
            </a:r>
          </a:p>
        </p:txBody>
      </p:sp>
      <p:sp>
        <p:nvSpPr>
          <p:cNvPr id="5" name="Rectángulo 4">
            <a:extLst>
              <a:ext uri="{FF2B5EF4-FFF2-40B4-BE49-F238E27FC236}">
                <a16:creationId xmlns:a16="http://schemas.microsoft.com/office/drawing/2014/main" id="{A6B92C76-6772-2E00-346F-532321092C0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2886628E-6E58-1F7E-B6C6-432B9A22839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0F38E924-A0E7-A039-C837-916BA77FE89B}"/>
              </a:ext>
            </a:extLst>
          </p:cNvPr>
          <p:cNvSpPr txBox="1"/>
          <p:nvPr/>
        </p:nvSpPr>
        <p:spPr>
          <a:xfrm>
            <a:off x="6347361" y="4498712"/>
            <a:ext cx="5486560" cy="276999"/>
          </a:xfrm>
          <a:prstGeom prst="rect">
            <a:avLst/>
          </a:prstGeom>
          <a:noFill/>
        </p:spPr>
        <p:txBody>
          <a:bodyPr wrap="square">
            <a:spAutoFit/>
          </a:bodyPr>
          <a:lstStyle/>
          <a:p>
            <a:pPr algn="r"/>
            <a:r>
              <a:rPr lang="en-US" sz="1200" b="1" dirty="0">
                <a:solidFill>
                  <a:schemeClr val="tx1"/>
                </a:solidFill>
                <a:latin typeface="Arial" panose="020B0604020202020204" pitchFamily="34" charset="0"/>
                <a:cs typeface="Arial" panose="020B0604020202020204" pitchFamily="34" charset="0"/>
              </a:rPr>
              <a:t>slab: 150nm</a:t>
            </a:r>
            <a:endParaRPr lang="en-US" sz="1200" dirty="0">
              <a:solidFill>
                <a:schemeClr val="tx1"/>
              </a:solidFill>
              <a:latin typeface="Arial" panose="020B0604020202020204" pitchFamily="34" charset="0"/>
              <a:cs typeface="Arial" panose="020B0604020202020204" pitchFamily="34" charset="0"/>
            </a:endParaRPr>
          </a:p>
        </p:txBody>
      </p:sp>
      <p:pic>
        <p:nvPicPr>
          <p:cNvPr id="7" name="Imagen 6" descr="Gráfico, Gráfico de líneas&#10;&#10;El contenido generado por IA puede ser incorrecto.">
            <a:extLst>
              <a:ext uri="{FF2B5EF4-FFF2-40B4-BE49-F238E27FC236}">
                <a16:creationId xmlns:a16="http://schemas.microsoft.com/office/drawing/2014/main" id="{67547D36-F5E9-054E-B6D4-79E858A9BA0E}"/>
              </a:ext>
            </a:extLst>
          </p:cNvPr>
          <p:cNvPicPr>
            <a:picLocks noChangeAspect="1"/>
          </p:cNvPicPr>
          <p:nvPr/>
        </p:nvPicPr>
        <p:blipFill>
          <a:blip r:embed="rId5"/>
          <a:stretch>
            <a:fillRect/>
          </a:stretch>
        </p:blipFill>
        <p:spPr>
          <a:xfrm>
            <a:off x="736499" y="1511995"/>
            <a:ext cx="5232441" cy="3113527"/>
          </a:xfrm>
          <a:prstGeom prst="rect">
            <a:avLst/>
          </a:prstGeom>
        </p:spPr>
      </p:pic>
      <p:pic>
        <p:nvPicPr>
          <p:cNvPr id="12" name="Imagen 11" descr="Gráfico, Gráfico de líneas&#10;&#10;El contenido generado por IA puede ser incorrecto.">
            <a:extLst>
              <a:ext uri="{FF2B5EF4-FFF2-40B4-BE49-F238E27FC236}">
                <a16:creationId xmlns:a16="http://schemas.microsoft.com/office/drawing/2014/main" id="{A089519D-A28D-F47F-F05B-1215E214A69D}"/>
              </a:ext>
            </a:extLst>
          </p:cNvPr>
          <p:cNvPicPr>
            <a:picLocks noChangeAspect="1"/>
          </p:cNvPicPr>
          <p:nvPr/>
        </p:nvPicPr>
        <p:blipFill>
          <a:blip r:embed="rId6"/>
          <a:stretch>
            <a:fillRect/>
          </a:stretch>
        </p:blipFill>
        <p:spPr>
          <a:xfrm>
            <a:off x="6455032" y="1520446"/>
            <a:ext cx="5321857" cy="3213723"/>
          </a:xfrm>
          <a:prstGeom prst="rect">
            <a:avLst/>
          </a:prstGeom>
        </p:spPr>
      </p:pic>
      <p:sp>
        <p:nvSpPr>
          <p:cNvPr id="10" name="CuadroTexto 9">
            <a:extLst>
              <a:ext uri="{FF2B5EF4-FFF2-40B4-BE49-F238E27FC236}">
                <a16:creationId xmlns:a16="http://schemas.microsoft.com/office/drawing/2014/main" id="{9D261FD0-5BD5-F32A-8D50-731D8DF2E23B}"/>
              </a:ext>
            </a:extLst>
          </p:cNvPr>
          <p:cNvSpPr txBox="1"/>
          <p:nvPr/>
        </p:nvSpPr>
        <p:spPr>
          <a:xfrm>
            <a:off x="4780280" y="5762644"/>
            <a:ext cx="442750" cy="369332"/>
          </a:xfrm>
          <a:prstGeom prst="rect">
            <a:avLst/>
          </a:prstGeom>
          <a:noFill/>
        </p:spPr>
        <p:txBody>
          <a:bodyPr wrap="none" rtlCol="0">
            <a:spAutoFit/>
          </a:bodyPr>
          <a:lstStyle/>
          <a:p>
            <a:r>
              <a:rPr lang="es-ES" dirty="0">
                <a:solidFill>
                  <a:srgbClr val="C00000"/>
                </a:solidFill>
              </a:rPr>
              <a:t>(3)</a:t>
            </a:r>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D5CD8482-DF01-3958-20CA-E3324323D78F}"/>
                  </a:ext>
                </a:extLst>
              </p:cNvPr>
              <p:cNvSpPr txBox="1"/>
              <p:nvPr/>
            </p:nvSpPr>
            <p:spPr>
              <a:xfrm>
                <a:off x="5186781" y="5805390"/>
                <a:ext cx="2204619" cy="299249"/>
              </a:xfrm>
              <a:prstGeom prst="rect">
                <a:avLst/>
              </a:prstGeom>
              <a:noFill/>
            </p:spPr>
            <p:txBody>
              <a:bodyPr wrap="square" lIns="0" tIns="0" rIns="0" bIns="0" rtlCol="0">
                <a:spAutoFit/>
              </a:bodyPr>
              <a:lstStyle/>
              <a:p>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𝑛</m:t>
                        </m:r>
                      </m:e>
                      <m:sub>
                        <m:r>
                          <a:rPr lang="es-ES" b="0" i="1" smtClean="0">
                            <a:latin typeface="Cambria Math" panose="02040503050406030204" pitchFamily="18" charset="0"/>
                          </a:rPr>
                          <m:t>𝑔</m:t>
                        </m:r>
                      </m:sub>
                    </m:sSub>
                    <m:d>
                      <m:dPr>
                        <m:ctrlPr>
                          <a:rPr lang="es-ES" b="0" i="1" smtClean="0">
                            <a:latin typeface="Cambria Math" panose="02040503050406030204" pitchFamily="18" charset="0"/>
                          </a:rPr>
                        </m:ctrlPr>
                      </m:dPr>
                      <m:e>
                        <m:sSub>
                          <m:sSubPr>
                            <m:ctrlPr>
                              <a:rPr lang="es-ES" b="0" i="1" smtClean="0">
                                <a:latin typeface="Cambria Math" panose="02040503050406030204" pitchFamily="18" charset="0"/>
                              </a:rPr>
                            </m:ctrlPr>
                          </m:sSubPr>
                          <m:e>
                            <m:r>
                              <a:rPr lang="el-GR" i="1">
                                <a:latin typeface="Cambria Math" panose="02040503050406030204" pitchFamily="18" charset="0"/>
                              </a:rPr>
                              <m:t>𝜆</m:t>
                            </m:r>
                          </m:e>
                          <m:sub>
                            <m:r>
                              <a:rPr lang="es-ES" b="0" i="1" smtClean="0">
                                <a:latin typeface="Cambria Math" panose="02040503050406030204" pitchFamily="18" charset="0"/>
                              </a:rPr>
                              <m:t>0</m:t>
                            </m:r>
                          </m:sub>
                        </m:sSub>
                      </m:e>
                    </m:d>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e>
                      <m:sub>
                        <m:r>
                          <a:rPr lang="es-ES" b="0" i="1" smtClean="0">
                            <a:latin typeface="Cambria Math" panose="02040503050406030204" pitchFamily="18" charset="0"/>
                          </a:rPr>
                          <m:t>1</m:t>
                        </m:r>
                      </m:sub>
                    </m:sSub>
                    <m:r>
                      <a:rPr lang="es-ES" b="0" i="1" smtClean="0">
                        <a:latin typeface="Cambria Math" panose="02040503050406030204" pitchFamily="18" charset="0"/>
                      </a:rPr>
                      <m:t>− </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e>
                      <m:sub>
                        <m:r>
                          <a:rPr lang="es-ES" b="0" i="1" smtClean="0">
                            <a:latin typeface="Cambria Math" panose="02040503050406030204" pitchFamily="18" charset="0"/>
                          </a:rPr>
                          <m:t>2</m:t>
                        </m:r>
                      </m:sub>
                    </m:sSub>
                    <m:r>
                      <a:rPr lang="es-ES" b="0" i="1" smtClean="0">
                        <a:latin typeface="Cambria Math" panose="02040503050406030204" pitchFamily="18" charset="0"/>
                        <a:ea typeface="Cambria Math" panose="02040503050406030204" pitchFamily="18" charset="0"/>
                      </a:rPr>
                      <m:t>∙</m:t>
                    </m:r>
                  </m:oMath>
                </a14:m>
                <a:r>
                  <a:rPr lang="es-ES" dirty="0"/>
                  <a:t> </a:t>
                </a:r>
                <a14:m>
                  <m:oMath xmlns:m="http://schemas.openxmlformats.org/officeDocument/2006/math">
                    <m:sSub>
                      <m:sSubPr>
                        <m:ctrlPr>
                          <a:rPr lang="es-ES" i="1">
                            <a:latin typeface="Cambria Math" panose="02040503050406030204" pitchFamily="18" charset="0"/>
                          </a:rPr>
                        </m:ctrlPr>
                      </m:sSubPr>
                      <m:e>
                        <m:r>
                          <a:rPr lang="el-GR" i="1">
                            <a:latin typeface="Cambria Math" panose="02040503050406030204" pitchFamily="18" charset="0"/>
                          </a:rPr>
                          <m:t>𝜆</m:t>
                        </m:r>
                      </m:e>
                      <m:sub>
                        <m:r>
                          <a:rPr lang="es-ES" i="1">
                            <a:latin typeface="Cambria Math" panose="02040503050406030204" pitchFamily="18" charset="0"/>
                          </a:rPr>
                          <m:t>0</m:t>
                        </m:r>
                      </m:sub>
                    </m:sSub>
                  </m:oMath>
                </a14:m>
                <a:endParaRPr lang="es-ES" dirty="0"/>
              </a:p>
            </p:txBody>
          </p:sp>
        </mc:Choice>
        <mc:Fallback xmlns="">
          <p:sp>
            <p:nvSpPr>
              <p:cNvPr id="4" name="CuadroTexto 3">
                <a:extLst>
                  <a:ext uri="{FF2B5EF4-FFF2-40B4-BE49-F238E27FC236}">
                    <a16:creationId xmlns:a16="http://schemas.microsoft.com/office/drawing/2014/main" id="{D5CD8482-DF01-3958-20CA-E3324323D78F}"/>
                  </a:ext>
                </a:extLst>
              </p:cNvPr>
              <p:cNvSpPr txBox="1">
                <a:spLocks noRot="1" noChangeAspect="1" noMove="1" noResize="1" noEditPoints="1" noAdjustHandles="1" noChangeArrowheads="1" noChangeShapeType="1" noTextEdit="1"/>
              </p:cNvSpPr>
              <p:nvPr/>
            </p:nvSpPr>
            <p:spPr>
              <a:xfrm>
                <a:off x="5186781" y="5805390"/>
                <a:ext cx="2204619" cy="299249"/>
              </a:xfrm>
              <a:prstGeom prst="rect">
                <a:avLst/>
              </a:prstGeom>
              <a:blipFill>
                <a:blip r:embed="rId7"/>
                <a:stretch>
                  <a:fillRect l="-2762" b="-22449"/>
                </a:stretch>
              </a:blipFill>
            </p:spPr>
            <p:txBody>
              <a:bodyPr/>
              <a:lstStyle/>
              <a:p>
                <a:r>
                  <a:rPr lang="es-ES">
                    <a:noFill/>
                  </a:rPr>
                  <a:t> </a:t>
                </a:r>
              </a:p>
            </p:txBody>
          </p:sp>
        </mc:Fallback>
      </mc:AlternateContent>
      <p:sp>
        <p:nvSpPr>
          <p:cNvPr id="11" name="CuadroTexto 10">
            <a:extLst>
              <a:ext uri="{FF2B5EF4-FFF2-40B4-BE49-F238E27FC236}">
                <a16:creationId xmlns:a16="http://schemas.microsoft.com/office/drawing/2014/main" id="{7359F9D9-2704-53E6-7754-381F5300BE80}"/>
              </a:ext>
            </a:extLst>
          </p:cNvPr>
          <p:cNvSpPr txBox="1"/>
          <p:nvPr/>
        </p:nvSpPr>
        <p:spPr>
          <a:xfrm>
            <a:off x="8310981" y="5762643"/>
            <a:ext cx="442750" cy="369332"/>
          </a:xfrm>
          <a:prstGeom prst="rect">
            <a:avLst/>
          </a:prstGeom>
          <a:noFill/>
        </p:spPr>
        <p:txBody>
          <a:bodyPr wrap="none" rtlCol="0">
            <a:spAutoFit/>
          </a:bodyPr>
          <a:lstStyle/>
          <a:p>
            <a:r>
              <a:rPr lang="es-ES" dirty="0">
                <a:solidFill>
                  <a:srgbClr val="C00000"/>
                </a:solidFill>
              </a:rPr>
              <a:t>(4)</a:t>
            </a:r>
          </a:p>
        </p:txBody>
      </p:sp>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ACA74DC3-0AFD-FA50-FAE4-659ABEB80790}"/>
                  </a:ext>
                </a:extLst>
              </p:cNvPr>
              <p:cNvSpPr txBox="1"/>
              <p:nvPr/>
            </p:nvSpPr>
            <p:spPr>
              <a:xfrm>
                <a:off x="8753731" y="5684289"/>
                <a:ext cx="2417200" cy="5260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i="1" smtClean="0">
                          <a:latin typeface="Cambria Math" panose="02040503050406030204" pitchFamily="18" charset="0"/>
                        </a:rPr>
                        <m:t>𝐷</m:t>
                      </m:r>
                      <m:r>
                        <a:rPr lang="es-ES" i="0">
                          <a:latin typeface="Cambria Math" panose="02040503050406030204" pitchFamily="18" charset="0"/>
                        </a:rPr>
                        <m:t>=−</m:t>
                      </m:r>
                      <m:f>
                        <m:fPr>
                          <m:ctrlPr>
                            <a:rPr lang="es-ES" i="1">
                              <a:latin typeface="Cambria Math" panose="02040503050406030204" pitchFamily="18" charset="0"/>
                            </a:rPr>
                          </m:ctrlPr>
                        </m:fPr>
                        <m:num>
                          <m:r>
                            <a:rPr lang="es-ES" i="0">
                              <a:latin typeface="Cambria Math" panose="02040503050406030204" pitchFamily="18" charset="0"/>
                            </a:rPr>
                            <m:t>2⋅</m:t>
                          </m:r>
                          <m:sSub>
                            <m:sSubPr>
                              <m:ctrlPr>
                                <a:rPr lang="es-ES" i="1">
                                  <a:latin typeface="Cambria Math" panose="02040503050406030204" pitchFamily="18" charset="0"/>
                                </a:rPr>
                              </m:ctrlPr>
                            </m:sSubPr>
                            <m:e>
                              <m:r>
                                <a:rPr lang="es-ES" i="1">
                                  <a:latin typeface="Cambria Math" panose="02040503050406030204" pitchFamily="18" charset="0"/>
                                </a:rPr>
                                <m:t>𝜆</m:t>
                              </m:r>
                            </m:e>
                            <m:sub>
                              <m:r>
                                <a:rPr lang="es-ES" i="0">
                                  <a:latin typeface="Cambria Math" panose="02040503050406030204" pitchFamily="18" charset="0"/>
                                </a:rPr>
                                <m:t>0</m:t>
                              </m:r>
                            </m:sub>
                          </m:sSub>
                          <m:r>
                            <a:rPr lang="es-ES" i="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𝑛</m:t>
                              </m:r>
                            </m:e>
                            <m:sub>
                              <m:r>
                                <a:rPr lang="es-ES" i="0">
                                  <a:latin typeface="Cambria Math" panose="02040503050406030204" pitchFamily="18" charset="0"/>
                                </a:rPr>
                                <m:t>3</m:t>
                              </m:r>
                            </m:sub>
                          </m:sSub>
                        </m:num>
                        <m:den>
                          <m:r>
                            <a:rPr lang="es-ES" i="1">
                              <a:latin typeface="Cambria Math" panose="02040503050406030204" pitchFamily="18" charset="0"/>
                            </a:rPr>
                            <m:t>𝑐</m:t>
                          </m:r>
                        </m:den>
                      </m:f>
                      <m:d>
                        <m:dPr>
                          <m:begChr m:val="["/>
                          <m:endChr m:val="]"/>
                          <m:ctrlPr>
                            <a:rPr lang="es-ES" i="1">
                              <a:latin typeface="Cambria Math" panose="02040503050406030204" pitchFamily="18" charset="0"/>
                            </a:rPr>
                          </m:ctrlPr>
                        </m:dPr>
                        <m:e>
                          <m:f>
                            <m:fPr>
                              <m:type m:val="lin"/>
                              <m:ctrlPr>
                                <a:rPr lang="es-ES" i="1">
                                  <a:latin typeface="Cambria Math" panose="02040503050406030204" pitchFamily="18" charset="0"/>
                                </a:rPr>
                              </m:ctrlPr>
                            </m:fPr>
                            <m:num>
                              <m:sSup>
                                <m:sSupPr>
                                  <m:ctrlPr>
                                    <a:rPr lang="es-ES" i="1">
                                      <a:latin typeface="Cambria Math" panose="02040503050406030204" pitchFamily="18" charset="0"/>
                                    </a:rPr>
                                  </m:ctrlPr>
                                </m:sSupPr>
                                <m:e>
                                  <m:r>
                                    <a:rPr lang="es-ES" i="1">
                                      <a:latin typeface="Cambria Math" panose="02040503050406030204" pitchFamily="18" charset="0"/>
                                    </a:rPr>
                                    <m:t>𝑠</m:t>
                                  </m:r>
                                </m:e>
                                <m:sup>
                                  <m:r>
                                    <a:rPr lang="es-ES" i="0">
                                      <a:latin typeface="Cambria Math" panose="02040503050406030204" pitchFamily="18" charset="0"/>
                                    </a:rPr>
                                    <m:t>2</m:t>
                                  </m:r>
                                </m:sup>
                              </m:sSup>
                            </m:num>
                            <m:den>
                              <m:r>
                                <a:rPr lang="es-ES" i="1">
                                  <a:latin typeface="Cambria Math" panose="02040503050406030204" pitchFamily="18" charset="0"/>
                                </a:rPr>
                                <m:t>𝑚</m:t>
                              </m:r>
                            </m:den>
                          </m:f>
                        </m:e>
                      </m:d>
                    </m:oMath>
                  </m:oMathPara>
                </a14:m>
                <a:endParaRPr lang="es-ES" dirty="0"/>
              </a:p>
            </p:txBody>
          </p:sp>
        </mc:Choice>
        <mc:Fallback xmlns="">
          <p:sp>
            <p:nvSpPr>
              <p:cNvPr id="13" name="CuadroTexto 12">
                <a:extLst>
                  <a:ext uri="{FF2B5EF4-FFF2-40B4-BE49-F238E27FC236}">
                    <a16:creationId xmlns:a16="http://schemas.microsoft.com/office/drawing/2014/main" id="{ACA74DC3-0AFD-FA50-FAE4-659ABEB80790}"/>
                  </a:ext>
                </a:extLst>
              </p:cNvPr>
              <p:cNvSpPr txBox="1">
                <a:spLocks noRot="1" noChangeAspect="1" noMove="1" noResize="1" noEditPoints="1" noAdjustHandles="1" noChangeArrowheads="1" noChangeShapeType="1" noTextEdit="1"/>
              </p:cNvSpPr>
              <p:nvPr/>
            </p:nvSpPr>
            <p:spPr>
              <a:xfrm>
                <a:off x="8753731" y="5684289"/>
                <a:ext cx="2417200" cy="52604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D06457B3-B672-E3F6-7406-1BE635CA202E}"/>
                  </a:ext>
                </a:extLst>
              </p:cNvPr>
              <p:cNvSpPr txBox="1"/>
              <p:nvPr/>
            </p:nvSpPr>
            <p:spPr>
              <a:xfrm>
                <a:off x="1854287" y="5805390"/>
                <a:ext cx="1830004" cy="29924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 i="1" smtClean="0">
                              <a:latin typeface="Cambria Math" panose="02040503050406030204" pitchFamily="18" charset="0"/>
                            </a:rPr>
                          </m:ctrlPr>
                        </m:sSubPr>
                        <m:e>
                          <m:r>
                            <a:rPr lang="es-ES" i="1">
                              <a:latin typeface="Cambria Math" panose="02040503050406030204" pitchFamily="18" charset="0"/>
                            </a:rPr>
                            <m:t>𝑛</m:t>
                          </m:r>
                        </m:e>
                        <m:sub>
                          <m:r>
                            <a:rPr lang="es-ES" i="1">
                              <a:latin typeface="Cambria Math" panose="02040503050406030204" pitchFamily="18" charset="0"/>
                            </a:rPr>
                            <m:t>𝑒𝑓𝑓</m:t>
                          </m:r>
                        </m:sub>
                      </m:sSub>
                      <m:d>
                        <m:dPr>
                          <m:ctrlPr>
                            <a:rPr lang="es-ES" i="1">
                              <a:latin typeface="Cambria Math" panose="02040503050406030204" pitchFamily="18" charset="0"/>
                            </a:rPr>
                          </m:ctrlPr>
                        </m:dPr>
                        <m:e>
                          <m:sSub>
                            <m:sSubPr>
                              <m:ctrlPr>
                                <a:rPr lang="es-ES" i="1">
                                  <a:latin typeface="Cambria Math" panose="02040503050406030204" pitchFamily="18" charset="0"/>
                                </a:rPr>
                              </m:ctrlPr>
                            </m:sSubPr>
                            <m:e>
                              <m:r>
                                <a:rPr lang="es-ES" i="1">
                                  <a:latin typeface="Cambria Math" panose="02040503050406030204" pitchFamily="18" charset="0"/>
                                </a:rPr>
                                <m:t>𝜆</m:t>
                              </m:r>
                            </m:e>
                            <m:sub>
                              <m:r>
                                <a:rPr lang="es-ES" i="0">
                                  <a:latin typeface="Cambria Math" panose="02040503050406030204" pitchFamily="18" charset="0"/>
                                </a:rPr>
                                <m:t>0</m:t>
                              </m:r>
                            </m:sub>
                          </m:sSub>
                        </m:e>
                      </m:d>
                      <m:r>
                        <a:rPr lang="es-ES" i="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𝑛</m:t>
                          </m:r>
                        </m:e>
                        <m:sub>
                          <m:r>
                            <a:rPr lang="es-ES" i="0">
                              <a:latin typeface="Cambria Math" panose="02040503050406030204" pitchFamily="18" charset="0"/>
                            </a:rPr>
                            <m:t>1</m:t>
                          </m:r>
                        </m:sub>
                      </m:sSub>
                    </m:oMath>
                  </m:oMathPara>
                </a14:m>
                <a:endParaRPr lang="es-ES" dirty="0"/>
              </a:p>
            </p:txBody>
          </p:sp>
        </mc:Choice>
        <mc:Fallback xmlns="">
          <p:sp>
            <p:nvSpPr>
              <p:cNvPr id="15" name="CuadroTexto 14">
                <a:extLst>
                  <a:ext uri="{FF2B5EF4-FFF2-40B4-BE49-F238E27FC236}">
                    <a16:creationId xmlns:a16="http://schemas.microsoft.com/office/drawing/2014/main" id="{D06457B3-B672-E3F6-7406-1BE635CA202E}"/>
                  </a:ext>
                </a:extLst>
              </p:cNvPr>
              <p:cNvSpPr txBox="1">
                <a:spLocks noRot="1" noChangeAspect="1" noMove="1" noResize="1" noEditPoints="1" noAdjustHandles="1" noChangeArrowheads="1" noChangeShapeType="1" noTextEdit="1"/>
              </p:cNvSpPr>
              <p:nvPr/>
            </p:nvSpPr>
            <p:spPr>
              <a:xfrm>
                <a:off x="1854287" y="5805390"/>
                <a:ext cx="1830004" cy="299249"/>
              </a:xfrm>
              <a:prstGeom prst="rect">
                <a:avLst/>
              </a:prstGeom>
              <a:blipFill>
                <a:blip r:embed="rId9"/>
                <a:stretch>
                  <a:fillRect b="-28571"/>
                </a:stretch>
              </a:blipFill>
            </p:spPr>
            <p:txBody>
              <a:bodyPr/>
              <a:lstStyle/>
              <a:p>
                <a:r>
                  <a:rPr lang="es-ES">
                    <a:noFill/>
                  </a:rPr>
                  <a:t> </a:t>
                </a:r>
              </a:p>
            </p:txBody>
          </p:sp>
        </mc:Fallback>
      </mc:AlternateContent>
      <p:sp>
        <p:nvSpPr>
          <p:cNvPr id="17" name="CuadroTexto 16">
            <a:extLst>
              <a:ext uri="{FF2B5EF4-FFF2-40B4-BE49-F238E27FC236}">
                <a16:creationId xmlns:a16="http://schemas.microsoft.com/office/drawing/2014/main" id="{7C175B47-B914-5646-7C40-03CE2721C1AD}"/>
              </a:ext>
            </a:extLst>
          </p:cNvPr>
          <p:cNvSpPr txBox="1"/>
          <p:nvPr/>
        </p:nvSpPr>
        <p:spPr>
          <a:xfrm>
            <a:off x="1632912" y="5770188"/>
            <a:ext cx="442750" cy="369332"/>
          </a:xfrm>
          <a:prstGeom prst="rect">
            <a:avLst/>
          </a:prstGeom>
          <a:noFill/>
        </p:spPr>
        <p:txBody>
          <a:bodyPr wrap="none" rtlCol="0">
            <a:spAutoFit/>
          </a:bodyPr>
          <a:lstStyle/>
          <a:p>
            <a:r>
              <a:rPr lang="es-ES" dirty="0">
                <a:solidFill>
                  <a:srgbClr val="C00000"/>
                </a:solidFill>
              </a:rPr>
              <a:t>(2)</a:t>
            </a:r>
          </a:p>
        </p:txBody>
      </p:sp>
    </p:spTree>
    <p:extLst>
      <p:ext uri="{BB962C8B-B14F-4D97-AF65-F5344CB8AC3E}">
        <p14:creationId xmlns:p14="http://schemas.microsoft.com/office/powerpoint/2010/main" val="2360544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8A23B-CB8D-7849-3996-9AEC7A3D325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03DB863-F35B-4E8B-9FFD-253DA9A93FEA}"/>
              </a:ext>
            </a:extLst>
          </p:cNvPr>
          <p:cNvSpPr txBox="1">
            <a:spLocks noGrp="1"/>
          </p:cNvSpPr>
          <p:nvPr>
            <p:ph type="title"/>
          </p:nvPr>
        </p:nvSpPr>
        <p:spPr>
          <a:xfrm>
            <a:off x="685800" y="408883"/>
            <a:ext cx="10994410" cy="1397819"/>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a:t>
            </a:r>
            <a:r>
              <a:rPr lang="en-US" sz="2500" dirty="0" err="1"/>
              <a:t>Continuación</a:t>
            </a:r>
            <a:r>
              <a:rPr lang="en-US" sz="2500" dirty="0"/>
              <a:t> – Waveguide compact model</a:t>
            </a:r>
            <a:br>
              <a:rPr lang="en-US" sz="2500" spc="-5" dirty="0">
                <a:latin typeface="+mj-lt"/>
                <a:cs typeface="Lucida Sans"/>
              </a:rPr>
            </a:br>
            <a:r>
              <a:rPr lang="en-US" b="0" dirty="0"/>
              <a:t>- Find the compact models of the following waveguides: </a:t>
            </a:r>
            <a:br>
              <a:rPr lang="en-US" b="0" dirty="0"/>
            </a:br>
            <a:r>
              <a:rPr lang="en-US" dirty="0"/>
              <a:t>Deep</a:t>
            </a:r>
            <a:r>
              <a:rPr lang="en-US" b="0" dirty="0"/>
              <a:t> waveguide, h=300nm, w=1.2um   - </a:t>
            </a:r>
            <a:r>
              <a:rPr lang="en-US" dirty="0"/>
              <a:t>Shallow</a:t>
            </a:r>
            <a:r>
              <a:rPr lang="en-US" b="0" dirty="0"/>
              <a:t> waveguide, core h=300nm, slab h=150 nm, w = 1.2um </a:t>
            </a:r>
            <a:br>
              <a:rPr lang="en-US" b="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47F286C5-FBB2-262F-A1DA-64B2E8B68BF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4429D2D-64B5-0548-A823-3C8D16FF6A96}"/>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7AAF1D63-00B6-C3DA-107C-8E7297593F17}"/>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5881E560-9F35-A059-65B0-A70D11432CE3}"/>
              </a:ext>
            </a:extLst>
          </p:cNvPr>
          <p:cNvSpPr txBox="1"/>
          <p:nvPr/>
        </p:nvSpPr>
        <p:spPr>
          <a:xfrm>
            <a:off x="583734" y="1600200"/>
            <a:ext cx="11198542" cy="1600438"/>
          </a:xfrm>
          <a:prstGeom prst="rect">
            <a:avLst/>
          </a:prstGeom>
          <a:solidFill>
            <a:schemeClr val="bg1">
              <a:lumMod val="95000"/>
            </a:schemeClr>
          </a:solidFill>
          <a:ln w="28575">
            <a:solidFill>
              <a:srgbClr val="E0700D"/>
            </a:solidFill>
          </a:ln>
        </p:spPr>
        <p:txBody>
          <a:bodyPr wrap="square" rtlCol="0">
            <a:spAutoFit/>
          </a:bodyPr>
          <a:lstStyle/>
          <a:p>
            <a:r>
              <a:rPr lang="es-ES" sz="1400" dirty="0">
                <a:latin typeface="Arial" panose="020B0604020202020204" pitchFamily="34" charset="0"/>
                <a:cs typeface="Arial" panose="020B0604020202020204" pitchFamily="34" charset="0"/>
              </a:rPr>
              <a:t>Observando los resultados agrupados en forma de tabla, podemos afirmar que el modo TE0 destaca por un mayor </a:t>
            </a:r>
            <a:r>
              <a:rPr lang="es-ES" sz="1400" dirty="0" err="1">
                <a:latin typeface="Arial" panose="020B0604020202020204" pitchFamily="34" charset="0"/>
                <a:cs typeface="Arial" panose="020B0604020202020204" pitchFamily="34" charset="0"/>
              </a:rPr>
              <a:t>n_eff</a:t>
            </a:r>
            <a:r>
              <a:rPr lang="es-ES" sz="1400" dirty="0">
                <a:latin typeface="Arial" panose="020B0604020202020204" pitchFamily="34" charset="0"/>
                <a:cs typeface="Arial" panose="020B0604020202020204" pitchFamily="34" charset="0"/>
              </a:rPr>
              <a:t> y mayor </a:t>
            </a:r>
            <a:r>
              <a:rPr lang="es-ES" sz="1400" dirty="0" err="1">
                <a:latin typeface="Arial" panose="020B0604020202020204" pitchFamily="34" charset="0"/>
                <a:cs typeface="Arial" panose="020B0604020202020204" pitchFamily="34" charset="0"/>
              </a:rPr>
              <a:t>n_g</a:t>
            </a:r>
            <a:r>
              <a:rPr lang="es-ES" sz="1400" dirty="0">
                <a:latin typeface="Arial" panose="020B0604020202020204" pitchFamily="34" charset="0"/>
                <a:cs typeface="Arial" panose="020B0604020202020204" pitchFamily="34" charset="0"/>
              </a:rPr>
              <a:t> que el TM0. Esto sucede debido a que el modo TE está más confinado, por lo que su velocidad de fase y de grupo son menores, al verse más influenciadas por el núcleo. El TM0 es más dispersivo (|D| mayor) precisamente porque, al estar menos confinado, la variación de </a:t>
            </a:r>
            <a:r>
              <a:rPr lang="es-ES" sz="1400" dirty="0" err="1">
                <a:latin typeface="Arial" panose="020B0604020202020204" pitchFamily="34" charset="0"/>
                <a:cs typeface="Arial" panose="020B0604020202020204" pitchFamily="34" charset="0"/>
              </a:rPr>
              <a:t>n_eff</a:t>
            </a:r>
            <a:r>
              <a:rPr lang="es-ES" sz="1400" dirty="0">
                <a:latin typeface="Arial" panose="020B0604020202020204" pitchFamily="34" charset="0"/>
                <a:cs typeface="Arial" panose="020B0604020202020204" pitchFamily="34" charset="0"/>
              </a:rPr>
              <a:t> con λ es mayor.</a:t>
            </a:r>
          </a:p>
          <a:p>
            <a:endParaRPr lang="es-ES" sz="1400" dirty="0">
              <a:latin typeface="Arial" panose="020B0604020202020204" pitchFamily="34" charset="0"/>
              <a:cs typeface="Arial" panose="020B0604020202020204" pitchFamily="34" charset="0"/>
            </a:endParaRPr>
          </a:p>
          <a:p>
            <a:r>
              <a:rPr lang="es-ES" sz="1400" dirty="0">
                <a:latin typeface="Arial" panose="020B0604020202020204" pitchFamily="34" charset="0"/>
                <a:cs typeface="Arial" panose="020B0604020202020204" pitchFamily="34" charset="0"/>
              </a:rPr>
              <a:t>En el </a:t>
            </a:r>
            <a:r>
              <a:rPr lang="es-ES" sz="1400" dirty="0" err="1">
                <a:latin typeface="Arial" panose="020B0604020202020204" pitchFamily="34" charset="0"/>
                <a:cs typeface="Arial" panose="020B0604020202020204" pitchFamily="34" charset="0"/>
              </a:rPr>
              <a:t>Shallow</a:t>
            </a:r>
            <a:r>
              <a:rPr lang="es-ES" sz="1400" dirty="0">
                <a:latin typeface="Arial" panose="020B0604020202020204" pitchFamily="34" charset="0"/>
                <a:cs typeface="Arial" panose="020B0604020202020204" pitchFamily="34" charset="0"/>
              </a:rPr>
              <a:t>, cabe destacar que el modo TM0 presenta un D notablemente menor que en la guía </a:t>
            </a:r>
            <a:r>
              <a:rPr lang="es-ES" sz="1400" dirty="0" err="1">
                <a:latin typeface="Arial" panose="020B0604020202020204" pitchFamily="34" charset="0"/>
                <a:cs typeface="Arial" panose="020B0604020202020204" pitchFamily="34" charset="0"/>
              </a:rPr>
              <a:t>deep</a:t>
            </a:r>
            <a:r>
              <a:rPr lang="es-ES" sz="1400" dirty="0">
                <a:latin typeface="Arial" panose="020B0604020202020204" pitchFamily="34" charset="0"/>
                <a:cs typeface="Arial" panose="020B0604020202020204" pitchFamily="34" charset="0"/>
              </a:rPr>
              <a:t>. El </a:t>
            </a:r>
            <a:r>
              <a:rPr lang="es-ES" sz="1400" dirty="0" err="1">
                <a:latin typeface="Arial" panose="020B0604020202020204" pitchFamily="34" charset="0"/>
                <a:cs typeface="Arial" panose="020B0604020202020204" pitchFamily="34" charset="0"/>
              </a:rPr>
              <a:t>slab</a:t>
            </a:r>
            <a:r>
              <a:rPr lang="es-ES" sz="1400" dirty="0">
                <a:latin typeface="Arial" panose="020B0604020202020204" pitchFamily="34" charset="0"/>
                <a:cs typeface="Arial" panose="020B0604020202020204" pitchFamily="34" charset="0"/>
              </a:rPr>
              <a:t> redistribuye espacialmente el modo TM, aumentando su confinamiento vertical y reduciendo así su sensibilidad a la longitud de onda.</a:t>
            </a:r>
          </a:p>
        </p:txBody>
      </p:sp>
      <p:pic>
        <p:nvPicPr>
          <p:cNvPr id="5" name="Imagen 4">
            <a:extLst>
              <a:ext uri="{FF2B5EF4-FFF2-40B4-BE49-F238E27FC236}">
                <a16:creationId xmlns:a16="http://schemas.microsoft.com/office/drawing/2014/main" id="{A52518F1-5F96-DD68-B0CE-C468A25BA906}"/>
              </a:ext>
            </a:extLst>
          </p:cNvPr>
          <p:cNvPicPr>
            <a:picLocks noChangeAspect="1"/>
          </p:cNvPicPr>
          <p:nvPr/>
        </p:nvPicPr>
        <p:blipFill>
          <a:blip r:embed="rId5"/>
          <a:stretch>
            <a:fillRect/>
          </a:stretch>
        </p:blipFill>
        <p:spPr>
          <a:xfrm>
            <a:off x="4113883" y="3400392"/>
            <a:ext cx="3964234" cy="2744470"/>
          </a:xfrm>
          <a:prstGeom prst="rect">
            <a:avLst/>
          </a:prstGeom>
        </p:spPr>
      </p:pic>
    </p:spTree>
    <p:extLst>
      <p:ext uri="{BB962C8B-B14F-4D97-AF65-F5344CB8AC3E}">
        <p14:creationId xmlns:p14="http://schemas.microsoft.com/office/powerpoint/2010/main" val="3402215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Bend waveguide radius vs. loss – deep</a:t>
            </a:r>
            <a:br>
              <a:rPr lang="en-US" sz="2500" dirty="0"/>
            </a:br>
            <a:r>
              <a:rPr lang="en-US" b="0" dirty="0"/>
              <a:t>Find  neff_TE0 for </a:t>
            </a:r>
            <a:r>
              <a:rPr lang="en-US" b="0" dirty="0" err="1"/>
              <a:t>wvl</a:t>
            </a:r>
            <a:r>
              <a:rPr lang="en-US" b="0" dirty="0"/>
              <a:t> 1.55 µm, width 1.2 µm for R=25,50,75,100, 125,150 µm</a:t>
            </a: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FDE3A197-9508-F9F1-1FEB-FF883D78C151}"/>
              </a:ext>
            </a:extLst>
          </p:cNvPr>
          <p:cNvSpPr txBox="1"/>
          <p:nvPr/>
        </p:nvSpPr>
        <p:spPr>
          <a:xfrm>
            <a:off x="609441" y="4876800"/>
            <a:ext cx="11199971" cy="738664"/>
          </a:xfrm>
          <a:prstGeom prst="rect">
            <a:avLst/>
          </a:prstGeom>
          <a:solidFill>
            <a:schemeClr val="bg1">
              <a:lumMod val="95000"/>
            </a:schemeClr>
          </a:solidFill>
          <a:ln w="28575">
            <a:solidFill>
              <a:srgbClr val="E0700D"/>
            </a:solidFill>
          </a:ln>
        </p:spPr>
        <p:txBody>
          <a:bodyPr wrap="square" rtlCol="0">
            <a:spAutoFit/>
          </a:bodyPr>
          <a:lstStyle/>
          <a:p>
            <a:pPr algn="just"/>
            <a:r>
              <a:rPr lang="es-ES" sz="1400" dirty="0">
                <a:latin typeface="Arial" panose="020B0604020202020204" pitchFamily="34" charset="0"/>
                <a:cs typeface="Arial" panose="020B0604020202020204" pitchFamily="34" charset="0"/>
              </a:rPr>
              <a:t>Como podemos apreciar, las pérdidas por curvatura disminuyen al aumentar el radio. A R=25µm la pérdida es ~0.135 dB/90°, superando el umbral seguro de 0.1 dB/90°. A partir de R ≥ 35µm ya no se sobrepasa ese umbral. En el caso de R≥50µm todas las pérdidas quedan por debajo, siendo un radio seguro para este </a:t>
            </a:r>
            <a:r>
              <a:rPr lang="es-ES" sz="1400" dirty="0" err="1">
                <a:latin typeface="Arial" panose="020B0604020202020204" pitchFamily="34" charset="0"/>
                <a:cs typeface="Arial" panose="020B0604020202020204" pitchFamily="34" charset="0"/>
              </a:rPr>
              <a:t>waveguide</a:t>
            </a:r>
            <a:r>
              <a:rPr lang="es-ES" sz="1400" dirty="0">
                <a:latin typeface="Arial" panose="020B0604020202020204" pitchFamily="34" charset="0"/>
                <a:cs typeface="Arial" panose="020B0604020202020204" pitchFamily="34" charset="0"/>
              </a:rPr>
              <a:t>.</a:t>
            </a:r>
            <a:endParaRPr lang="en-US" sz="14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B5FE8755-B0BF-14B7-64E6-4BBB2560B9A6}"/>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descr="Gráfico, Gráfico de líneas&#10;&#10;El contenido generado por IA puede ser incorrecto.">
            <a:extLst>
              <a:ext uri="{FF2B5EF4-FFF2-40B4-BE49-F238E27FC236}">
                <a16:creationId xmlns:a16="http://schemas.microsoft.com/office/drawing/2014/main" id="{5B346FBF-8F55-8396-CBBD-60F2F4F5CD9F}"/>
              </a:ext>
            </a:extLst>
          </p:cNvPr>
          <p:cNvPicPr>
            <a:picLocks noChangeAspect="1"/>
          </p:cNvPicPr>
          <p:nvPr/>
        </p:nvPicPr>
        <p:blipFill>
          <a:blip r:embed="rId5"/>
          <a:stretch>
            <a:fillRect/>
          </a:stretch>
        </p:blipFill>
        <p:spPr>
          <a:xfrm>
            <a:off x="723026" y="1498926"/>
            <a:ext cx="5296773" cy="3174274"/>
          </a:xfrm>
          <a:prstGeom prst="rect">
            <a:avLst/>
          </a:prstGeom>
        </p:spPr>
      </p:pic>
      <p:pic>
        <p:nvPicPr>
          <p:cNvPr id="9" name="Imagen 8" descr="Gráfico, Gráfico de líneas&#10;&#10;El contenido generado por IA puede ser incorrecto.">
            <a:extLst>
              <a:ext uri="{FF2B5EF4-FFF2-40B4-BE49-F238E27FC236}">
                <a16:creationId xmlns:a16="http://schemas.microsoft.com/office/drawing/2014/main" id="{D9E85915-5F02-1B60-7721-B0320249878B}"/>
              </a:ext>
            </a:extLst>
          </p:cNvPr>
          <p:cNvPicPr>
            <a:picLocks noChangeAspect="1"/>
          </p:cNvPicPr>
          <p:nvPr/>
        </p:nvPicPr>
        <p:blipFill>
          <a:blip r:embed="rId6"/>
          <a:stretch>
            <a:fillRect/>
          </a:stretch>
        </p:blipFill>
        <p:spPr>
          <a:xfrm>
            <a:off x="6246652" y="1520808"/>
            <a:ext cx="5335907" cy="3196283"/>
          </a:xfrm>
          <a:prstGeom prst="rect">
            <a:avLst/>
          </a:prstGeom>
        </p:spPr>
      </p:pic>
    </p:spTree>
    <p:extLst>
      <p:ext uri="{BB962C8B-B14F-4D97-AF65-F5344CB8AC3E}">
        <p14:creationId xmlns:p14="http://schemas.microsoft.com/office/powerpoint/2010/main" val="36604382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EAD66-DE64-FCB3-8F07-1816039A954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B09F4F-8DFB-86BE-109C-0888912A4B72}"/>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a:t>
            </a:r>
            <a:r>
              <a:rPr lang="en-US" sz="2500" dirty="0" err="1"/>
              <a:t>Continuación</a:t>
            </a:r>
            <a:r>
              <a:rPr lang="en-US" sz="2500" dirty="0"/>
              <a:t> – Bend waveguide radius vs. loss – deep</a:t>
            </a:r>
            <a:br>
              <a:rPr lang="en-US" sz="2500" dirty="0"/>
            </a:br>
            <a:r>
              <a:rPr lang="en-US" b="0" dirty="0"/>
              <a:t>Find  neff_TE0 for </a:t>
            </a:r>
            <a:r>
              <a:rPr lang="en-US" b="0" dirty="0" err="1"/>
              <a:t>wvl</a:t>
            </a:r>
            <a:r>
              <a:rPr lang="en-US" b="0" dirty="0"/>
              <a:t> 1.55 µm, width 1.2 µm for R=25,50,75,100, 125,150 µm</a:t>
            </a: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C61FEEF0-02EC-4543-412A-EBA43AAB003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69C9C51-80DA-8ADF-026F-EAB48AE83C94}"/>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84195BAB-D223-E8D2-EF12-768B7AC6E10F}"/>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D232DE38-4FC3-D8CB-5472-2443A64F4000}"/>
              </a:ext>
            </a:extLst>
          </p:cNvPr>
          <p:cNvSpPr txBox="1"/>
          <p:nvPr/>
        </p:nvSpPr>
        <p:spPr>
          <a:xfrm>
            <a:off x="496014" y="1371600"/>
            <a:ext cx="11199971" cy="954107"/>
          </a:xfrm>
          <a:prstGeom prst="rect">
            <a:avLst/>
          </a:prstGeom>
          <a:solidFill>
            <a:schemeClr val="bg1">
              <a:lumMod val="95000"/>
            </a:schemeClr>
          </a:solidFill>
          <a:ln w="28575">
            <a:solidFill>
              <a:srgbClr val="E0700D"/>
            </a:solidFill>
          </a:ln>
        </p:spPr>
        <p:txBody>
          <a:bodyPr wrap="square" rtlCol="0">
            <a:spAutoFit/>
          </a:bodyPr>
          <a:lstStyle/>
          <a:p>
            <a:pPr algn="just"/>
            <a:r>
              <a:rPr lang="es-ES" sz="1400" dirty="0">
                <a:latin typeface="Arial" panose="020B0604020202020204" pitchFamily="34" charset="0"/>
                <a:cs typeface="Arial" panose="020B0604020202020204" pitchFamily="34" charset="0"/>
              </a:rPr>
              <a:t>Físicamente, en una curva el modo se desplaza hacia el exterior de la curva (como un coche afectado por la fuerza centrífuga en una curva a alta velocidad), y la parte exterior del campo viaja a mayor velocidad de fase que la interior. Para radios pequeños, parte del campo supera la velocidad de la luz en el </a:t>
            </a:r>
            <a:r>
              <a:rPr lang="es-ES" sz="1400" dirty="0" err="1">
                <a:latin typeface="Arial" panose="020B0604020202020204" pitchFamily="34" charset="0"/>
                <a:cs typeface="Arial" panose="020B0604020202020204" pitchFamily="34" charset="0"/>
              </a:rPr>
              <a:t>cladding</a:t>
            </a:r>
            <a:r>
              <a:rPr lang="es-ES" sz="1400" dirty="0">
                <a:latin typeface="Arial" panose="020B0604020202020204" pitchFamily="34" charset="0"/>
                <a:cs typeface="Arial" panose="020B0604020202020204" pitchFamily="34" charset="0"/>
              </a:rPr>
              <a:t>, escapando como radiación, de ahí las pérdidas por curvatura. Al aumentar R, este efecto se reduce.</a:t>
            </a:r>
            <a:endParaRPr lang="en-US" sz="1400" dirty="0">
              <a:latin typeface="Arial" panose="020B0604020202020204" pitchFamily="34" charset="0"/>
              <a:cs typeface="Arial" panose="020B0604020202020204" pitchFamily="34" charset="0"/>
            </a:endParaRPr>
          </a:p>
        </p:txBody>
      </p:sp>
      <p:pic>
        <p:nvPicPr>
          <p:cNvPr id="6" name="Imagen 5">
            <a:extLst>
              <a:ext uri="{FF2B5EF4-FFF2-40B4-BE49-F238E27FC236}">
                <a16:creationId xmlns:a16="http://schemas.microsoft.com/office/drawing/2014/main" id="{202656DC-3EC7-0595-3EC5-391866660F7E}"/>
              </a:ext>
            </a:extLst>
          </p:cNvPr>
          <p:cNvPicPr>
            <a:picLocks noChangeAspect="1"/>
          </p:cNvPicPr>
          <p:nvPr/>
        </p:nvPicPr>
        <p:blipFill>
          <a:blip r:embed="rId5"/>
          <a:stretch>
            <a:fillRect/>
          </a:stretch>
        </p:blipFill>
        <p:spPr>
          <a:xfrm>
            <a:off x="609600" y="2590800"/>
            <a:ext cx="6487113" cy="2544831"/>
          </a:xfrm>
          <a:prstGeom prst="rect">
            <a:avLst/>
          </a:prstGeom>
        </p:spPr>
      </p:pic>
      <p:sp>
        <p:nvSpPr>
          <p:cNvPr id="8" name="CuadroTexto 7">
            <a:extLst>
              <a:ext uri="{FF2B5EF4-FFF2-40B4-BE49-F238E27FC236}">
                <a16:creationId xmlns:a16="http://schemas.microsoft.com/office/drawing/2014/main" id="{DABF6B9F-E7A4-0AE0-AF44-4F2F7E3C5328}"/>
              </a:ext>
            </a:extLst>
          </p:cNvPr>
          <p:cNvSpPr txBox="1"/>
          <p:nvPr/>
        </p:nvSpPr>
        <p:spPr>
          <a:xfrm>
            <a:off x="381000" y="5433536"/>
            <a:ext cx="11199971" cy="738664"/>
          </a:xfrm>
          <a:prstGeom prst="rect">
            <a:avLst/>
          </a:prstGeom>
          <a:solidFill>
            <a:schemeClr val="bg1">
              <a:lumMod val="95000"/>
            </a:schemeClr>
          </a:solidFill>
          <a:ln w="28575">
            <a:solidFill>
              <a:srgbClr val="E0700D"/>
            </a:solidFill>
          </a:ln>
        </p:spPr>
        <p:txBody>
          <a:bodyPr wrap="square" rtlCol="0">
            <a:spAutoFit/>
          </a:bodyPr>
          <a:lstStyle/>
          <a:p>
            <a:pPr algn="just"/>
            <a:r>
              <a:rPr lang="es-ES" sz="1400" dirty="0">
                <a:latin typeface="Arial" panose="020B0604020202020204" pitchFamily="34" charset="0"/>
                <a:cs typeface="Arial" panose="020B0604020202020204" pitchFamily="34" charset="0"/>
              </a:rPr>
              <a:t>Por otro lado, el </a:t>
            </a:r>
            <a:r>
              <a:rPr lang="es-ES" sz="1400" dirty="0" err="1">
                <a:latin typeface="Arial" panose="020B0604020202020204" pitchFamily="34" charset="0"/>
                <a:cs typeface="Arial" panose="020B0604020202020204" pitchFamily="34" charset="0"/>
              </a:rPr>
              <a:t>n_eff</a:t>
            </a:r>
            <a:r>
              <a:rPr lang="es-ES" sz="1400" dirty="0">
                <a:latin typeface="Arial" panose="020B0604020202020204" pitchFamily="34" charset="0"/>
                <a:cs typeface="Arial" panose="020B0604020202020204" pitchFamily="34" charset="0"/>
              </a:rPr>
              <a:t> decrece ligeramente al reducir el radio, lo que refleja ese desplazamiento del modo hacia la región de menor índice, es decir, el exterior. Este fenómeno es relevante en diseño porque implica que, al transitar de un tramo recto a uno curvo, los perfiles de modo no coinciden exactamente, introduciéndose un </a:t>
            </a:r>
            <a:r>
              <a:rPr lang="es-ES" sz="1400" dirty="0" err="1">
                <a:latin typeface="Arial" panose="020B0604020202020204" pitchFamily="34" charset="0"/>
                <a:cs typeface="Arial" panose="020B0604020202020204" pitchFamily="34" charset="0"/>
              </a:rPr>
              <a:t>mismatch</a:t>
            </a:r>
            <a:r>
              <a:rPr lang="es-ES" sz="1400" dirty="0">
                <a:latin typeface="Arial" panose="020B0604020202020204" pitchFamily="34" charset="0"/>
                <a:cs typeface="Arial" panose="020B0604020202020204" pitchFamily="34" charset="0"/>
              </a:rPr>
              <a:t> que justifica el uso de </a:t>
            </a:r>
            <a:r>
              <a:rPr lang="es-ES" sz="1400" dirty="0" err="1">
                <a:latin typeface="Arial" panose="020B0604020202020204" pitchFamily="34" charset="0"/>
                <a:cs typeface="Arial" panose="020B0604020202020204" pitchFamily="34" charset="0"/>
              </a:rPr>
              <a:t>offsets</a:t>
            </a:r>
            <a:r>
              <a:rPr lang="es-ES" sz="1400" dirty="0">
                <a:latin typeface="Arial" panose="020B0604020202020204" pitchFamily="34" charset="0"/>
                <a:cs typeface="Arial" panose="020B0604020202020204" pitchFamily="34" charset="0"/>
              </a:rPr>
              <a:t> en la unión recta-curva.</a:t>
            </a:r>
          </a:p>
        </p:txBody>
      </p:sp>
      <p:pic>
        <p:nvPicPr>
          <p:cNvPr id="11" name="Imagen 10">
            <a:extLst>
              <a:ext uri="{FF2B5EF4-FFF2-40B4-BE49-F238E27FC236}">
                <a16:creationId xmlns:a16="http://schemas.microsoft.com/office/drawing/2014/main" id="{C4EBED4D-72A8-200D-6F11-75012AF61475}"/>
              </a:ext>
            </a:extLst>
          </p:cNvPr>
          <p:cNvPicPr>
            <a:picLocks noChangeAspect="1"/>
          </p:cNvPicPr>
          <p:nvPr/>
        </p:nvPicPr>
        <p:blipFill>
          <a:blip r:embed="rId6"/>
          <a:stretch>
            <a:fillRect/>
          </a:stretch>
        </p:blipFill>
        <p:spPr>
          <a:xfrm>
            <a:off x="8153400" y="2605176"/>
            <a:ext cx="3048000" cy="2543503"/>
          </a:xfrm>
          <a:prstGeom prst="rect">
            <a:avLst/>
          </a:prstGeom>
        </p:spPr>
      </p:pic>
    </p:spTree>
    <p:extLst>
      <p:ext uri="{BB962C8B-B14F-4D97-AF65-F5344CB8AC3E}">
        <p14:creationId xmlns:p14="http://schemas.microsoft.com/office/powerpoint/2010/main" val="21754396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3AADC859-FE69-8646-BC25-AD09963072CE}"/>
              </a:ext>
            </a:extLst>
          </p:cNvPr>
          <p:cNvSpPr>
            <a:spLocks noGrp="1"/>
          </p:cNvSpPr>
          <p:nvPr>
            <p:ph type="ftr" sz="quarter" idx="5"/>
          </p:nvPr>
        </p:nvSpPr>
        <p:spPr/>
        <p:txBody>
          <a:bodyPr/>
          <a:lstStyle/>
          <a:p>
            <a:pPr marL="12700">
              <a:spcBef>
                <a:spcPts val="15"/>
              </a:spcBef>
            </a:pPr>
            <a:r>
              <a:rPr lang="es-ES" spc="-5" dirty="0"/>
              <a:t>LAB 1.0 WAVEGUIDES</a:t>
            </a:r>
          </a:p>
        </p:txBody>
      </p:sp>
      <p:sp>
        <p:nvSpPr>
          <p:cNvPr id="5" name="Marcador de número de diapositiva 4">
            <a:extLst>
              <a:ext uri="{FF2B5EF4-FFF2-40B4-BE49-F238E27FC236}">
                <a16:creationId xmlns:a16="http://schemas.microsoft.com/office/drawing/2014/main" id="{F00FD5A9-EB75-4B65-1393-4570FC209EFC}"/>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6" name="object 16">
            <a:extLst>
              <a:ext uri="{FF2B5EF4-FFF2-40B4-BE49-F238E27FC236}">
                <a16:creationId xmlns:a16="http://schemas.microsoft.com/office/drawing/2014/main" id="{52D32EFB-012D-6910-7F07-FF2E673AFD42}"/>
              </a:ext>
            </a:extLst>
          </p:cNvPr>
          <p:cNvSpPr txBox="1">
            <a:spLocks noGrp="1"/>
          </p:cNvSpPr>
          <p:nvPr>
            <p:ph type="title"/>
          </p:nvPr>
        </p:nvSpPr>
        <p:spPr>
          <a:xfrm>
            <a:off x="590550" y="357758"/>
            <a:ext cx="1099185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EXTRA – Silicon-On-Insulator technology</a:t>
            </a:r>
            <a:br>
              <a:rPr lang="en-US" sz="2500" dirty="0"/>
            </a:br>
            <a:r>
              <a:rPr lang="en-US" b="0" dirty="0"/>
              <a:t>Wavelength behavior simulations (width = 500 nm ; height = 220 nm)</a:t>
            </a:r>
            <a:endParaRPr lang="en-US" sz="2500" b="0" dirty="0">
              <a:latin typeface="+mj-lt"/>
              <a:cs typeface="Lucida Sans"/>
            </a:endParaRPr>
          </a:p>
        </p:txBody>
      </p:sp>
      <p:grpSp>
        <p:nvGrpSpPr>
          <p:cNvPr id="12" name="Grupo 11">
            <a:extLst>
              <a:ext uri="{FF2B5EF4-FFF2-40B4-BE49-F238E27FC236}">
                <a16:creationId xmlns:a16="http://schemas.microsoft.com/office/drawing/2014/main" id="{00166760-8263-F19C-FB28-5FA075ABA53B}"/>
              </a:ext>
            </a:extLst>
          </p:cNvPr>
          <p:cNvGrpSpPr/>
          <p:nvPr/>
        </p:nvGrpSpPr>
        <p:grpSpPr>
          <a:xfrm>
            <a:off x="590550" y="1630794"/>
            <a:ext cx="4419600" cy="3779406"/>
            <a:chOff x="1143000" y="1207236"/>
            <a:chExt cx="4419600" cy="3745764"/>
          </a:xfrm>
        </p:grpSpPr>
        <p:sp>
          <p:nvSpPr>
            <p:cNvPr id="9" name="Rectángulo 8">
              <a:extLst>
                <a:ext uri="{FF2B5EF4-FFF2-40B4-BE49-F238E27FC236}">
                  <a16:creationId xmlns:a16="http://schemas.microsoft.com/office/drawing/2014/main" id="{BCAC1F61-632D-0391-FEE9-0ED036253481}"/>
                </a:ext>
              </a:extLst>
            </p:cNvPr>
            <p:cNvSpPr/>
            <p:nvPr/>
          </p:nvSpPr>
          <p:spPr>
            <a:xfrm>
              <a:off x="1143000" y="1207236"/>
              <a:ext cx="4419600" cy="374576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Imagen 10">
              <a:extLst>
                <a:ext uri="{FF2B5EF4-FFF2-40B4-BE49-F238E27FC236}">
                  <a16:creationId xmlns:a16="http://schemas.microsoft.com/office/drawing/2014/main" id="{C9EC45DD-AB20-EAB4-B9C4-E0BCAB27CFD5}"/>
                </a:ext>
              </a:extLst>
            </p:cNvPr>
            <p:cNvPicPr>
              <a:picLocks noChangeAspect="1"/>
            </p:cNvPicPr>
            <p:nvPr/>
          </p:nvPicPr>
          <p:blipFill>
            <a:blip r:embed="rId2"/>
            <a:stretch>
              <a:fillRect/>
            </a:stretch>
          </p:blipFill>
          <p:spPr>
            <a:xfrm>
              <a:off x="1219200" y="1327517"/>
              <a:ext cx="4267040" cy="3546592"/>
            </a:xfrm>
            <a:prstGeom prst="rect">
              <a:avLst/>
            </a:prstGeom>
          </p:spPr>
        </p:pic>
      </p:grpSp>
      <p:sp>
        <p:nvSpPr>
          <p:cNvPr id="20" name="CuadroTexto 19">
            <a:extLst>
              <a:ext uri="{FF2B5EF4-FFF2-40B4-BE49-F238E27FC236}">
                <a16:creationId xmlns:a16="http://schemas.microsoft.com/office/drawing/2014/main" id="{B682F70B-11EA-422F-F2D1-E2DACBA7D5D0}"/>
              </a:ext>
            </a:extLst>
          </p:cNvPr>
          <p:cNvSpPr txBox="1"/>
          <p:nvPr/>
        </p:nvSpPr>
        <p:spPr>
          <a:xfrm>
            <a:off x="5333999" y="3657600"/>
            <a:ext cx="6553201" cy="2677656"/>
          </a:xfrm>
          <a:prstGeom prst="rect">
            <a:avLst/>
          </a:prstGeom>
          <a:solidFill>
            <a:schemeClr val="bg1">
              <a:lumMod val="95000"/>
            </a:schemeClr>
          </a:solidFill>
          <a:ln w="28575">
            <a:solidFill>
              <a:srgbClr val="E0700D"/>
            </a:solidFill>
          </a:ln>
        </p:spPr>
        <p:txBody>
          <a:bodyPr wrap="square" rtlCol="0">
            <a:spAutoFit/>
          </a:bodyPr>
          <a:lstStyle/>
          <a:p>
            <a:r>
              <a:rPr lang="es-ES" sz="1400" dirty="0">
                <a:latin typeface="Arial" panose="020B0604020202020204" pitchFamily="34" charset="0"/>
                <a:cs typeface="Arial" panose="020B0604020202020204" pitchFamily="34" charset="0"/>
              </a:rPr>
              <a:t>Analizando el </a:t>
            </a:r>
            <a:r>
              <a:rPr lang="es-ES" sz="1400" dirty="0" err="1">
                <a:latin typeface="Arial" panose="020B0604020202020204" pitchFamily="34" charset="0"/>
                <a:cs typeface="Arial" panose="020B0604020202020204" pitchFamily="34" charset="0"/>
              </a:rPr>
              <a:t>n_eff</a:t>
            </a:r>
            <a:r>
              <a:rPr lang="es-ES" sz="1400" dirty="0">
                <a:latin typeface="Arial" panose="020B0604020202020204" pitchFamily="34" charset="0"/>
                <a:cs typeface="Arial" panose="020B0604020202020204" pitchFamily="34" charset="0"/>
              </a:rPr>
              <a:t> en la tecnología SOI, podemos observar una reducción de estos en los diferentes modos de propagación según λ, indicando cierta dispersión.</a:t>
            </a:r>
          </a:p>
          <a:p>
            <a:endParaRPr lang="es-ES" sz="1400" dirty="0">
              <a:latin typeface="Arial" panose="020B0604020202020204" pitchFamily="34" charset="0"/>
              <a:cs typeface="Arial" panose="020B0604020202020204" pitchFamily="34" charset="0"/>
            </a:endParaRPr>
          </a:p>
          <a:p>
            <a:r>
              <a:rPr lang="es-ES" sz="1400" dirty="0">
                <a:latin typeface="Arial" panose="020B0604020202020204" pitchFamily="34" charset="0"/>
                <a:cs typeface="Arial" panose="020B0604020202020204" pitchFamily="34" charset="0"/>
              </a:rPr>
              <a:t>Por otro lado, notamos un aumento global de los valores de </a:t>
            </a:r>
            <a:r>
              <a:rPr lang="es-ES" sz="1400" dirty="0" err="1">
                <a:latin typeface="Arial" panose="020B0604020202020204" pitchFamily="34" charset="0"/>
                <a:cs typeface="Arial" panose="020B0604020202020204" pitchFamily="34" charset="0"/>
              </a:rPr>
              <a:t>n_eff</a:t>
            </a:r>
            <a:r>
              <a:rPr lang="es-ES" sz="1400" dirty="0">
                <a:latin typeface="Arial" panose="020B0604020202020204" pitchFamily="34" charset="0"/>
                <a:cs typeface="Arial" panose="020B0604020202020204" pitchFamily="34" charset="0"/>
              </a:rPr>
              <a:t>, principalmente en los primeros modos. Esto se debe a que en la tecnología SOI el </a:t>
            </a:r>
            <a:r>
              <a:rPr lang="es-ES" sz="1400" dirty="0" err="1">
                <a:latin typeface="Arial" panose="020B0604020202020204" pitchFamily="34" charset="0"/>
                <a:cs typeface="Arial" panose="020B0604020202020204" pitchFamily="34" charset="0"/>
              </a:rPr>
              <a:t>n_core</a:t>
            </a:r>
            <a:r>
              <a:rPr lang="es-ES" sz="1400" dirty="0">
                <a:latin typeface="Arial" panose="020B0604020202020204" pitchFamily="34" charset="0"/>
                <a:cs typeface="Arial" panose="020B0604020202020204" pitchFamily="34" charset="0"/>
              </a:rPr>
              <a:t> es mayor que en </a:t>
            </a:r>
            <a:r>
              <a:rPr lang="es-ES" sz="1400" dirty="0" err="1">
                <a:latin typeface="Arial" panose="020B0604020202020204" pitchFamily="34" charset="0"/>
                <a:cs typeface="Arial" panose="020B0604020202020204" pitchFamily="34" charset="0"/>
              </a:rPr>
              <a:t>SiNx</a:t>
            </a:r>
            <a:r>
              <a:rPr lang="es-ES" sz="1400" dirty="0">
                <a:latin typeface="Arial" panose="020B0604020202020204" pitchFamily="34" charset="0"/>
                <a:cs typeface="Arial" panose="020B0604020202020204" pitchFamily="34" charset="0"/>
              </a:rPr>
              <a:t>.</a:t>
            </a:r>
          </a:p>
          <a:p>
            <a:endParaRPr lang="es-ES" sz="1400" dirty="0">
              <a:latin typeface="Arial" panose="020B0604020202020204" pitchFamily="34" charset="0"/>
              <a:cs typeface="Arial" panose="020B0604020202020204" pitchFamily="34" charset="0"/>
            </a:endParaRPr>
          </a:p>
          <a:p>
            <a:r>
              <a:rPr lang="es-ES" sz="1400" dirty="0">
                <a:latin typeface="Arial" panose="020B0604020202020204" pitchFamily="34" charset="0"/>
                <a:cs typeface="Arial" panose="020B0604020202020204" pitchFamily="34" charset="0"/>
              </a:rPr>
              <a:t>Finalmente, el modo 3 en este caso, pasa a ser TE puro (</a:t>
            </a:r>
            <a:r>
              <a:rPr lang="es-ES" sz="1400" dirty="0" err="1">
                <a:latin typeface="Arial" panose="020B0604020202020204" pitchFamily="34" charset="0"/>
                <a:cs typeface="Arial" panose="020B0604020202020204" pitchFamily="34" charset="0"/>
              </a:rPr>
              <a:t>fraction_TE</a:t>
            </a:r>
            <a:r>
              <a:rPr lang="es-ES" sz="1400" dirty="0">
                <a:latin typeface="Arial" panose="020B0604020202020204" pitchFamily="34" charset="0"/>
                <a:cs typeface="Arial" panose="020B0604020202020204" pitchFamily="34" charset="0"/>
              </a:rPr>
              <a:t> = 0.99), diferenciándose del anterior el cual se caracterizaba por su propagación TM. No obstante, al tener el </a:t>
            </a:r>
            <a:r>
              <a:rPr lang="es-ES" sz="1400" dirty="0" err="1">
                <a:latin typeface="Arial" panose="020B0604020202020204" pitchFamily="34" charset="0"/>
                <a:cs typeface="Arial" panose="020B0604020202020204" pitchFamily="34" charset="0"/>
              </a:rPr>
              <a:t>n_eff</a:t>
            </a:r>
            <a:r>
              <a:rPr lang="es-ES" sz="1400" dirty="0">
                <a:latin typeface="Arial" panose="020B0604020202020204" pitchFamily="34" charset="0"/>
                <a:cs typeface="Arial" panose="020B0604020202020204" pitchFamily="34" charset="0"/>
              </a:rPr>
              <a:t> &lt; </a:t>
            </a:r>
            <a:r>
              <a:rPr lang="es-ES" sz="1400" dirty="0" err="1">
                <a:latin typeface="Arial" panose="020B0604020202020204" pitchFamily="34" charset="0"/>
                <a:cs typeface="Arial" panose="020B0604020202020204" pitchFamily="34" charset="0"/>
              </a:rPr>
              <a:t>n_cladding</a:t>
            </a:r>
            <a:r>
              <a:rPr lang="es-ES" sz="1400" dirty="0">
                <a:latin typeface="Arial" panose="020B0604020202020204" pitchFamily="34" charset="0"/>
                <a:cs typeface="Arial" panose="020B0604020202020204" pitchFamily="34" charset="0"/>
              </a:rPr>
              <a:t> a λ = 1.55µm (1.4346 &lt; 1.44) queda también descartado.</a:t>
            </a:r>
          </a:p>
        </p:txBody>
      </p:sp>
      <p:pic>
        <p:nvPicPr>
          <p:cNvPr id="3" name="Imagen 2">
            <a:extLst>
              <a:ext uri="{FF2B5EF4-FFF2-40B4-BE49-F238E27FC236}">
                <a16:creationId xmlns:a16="http://schemas.microsoft.com/office/drawing/2014/main" id="{E8A0D500-0A84-4C5A-BCA2-C3CED00123CD}"/>
              </a:ext>
            </a:extLst>
          </p:cNvPr>
          <p:cNvPicPr>
            <a:picLocks noChangeAspect="1"/>
          </p:cNvPicPr>
          <p:nvPr/>
        </p:nvPicPr>
        <p:blipFill>
          <a:blip r:embed="rId3"/>
          <a:stretch>
            <a:fillRect/>
          </a:stretch>
        </p:blipFill>
        <p:spPr>
          <a:xfrm>
            <a:off x="7132216" y="1295400"/>
            <a:ext cx="2956765" cy="2009936"/>
          </a:xfrm>
          <a:prstGeom prst="rect">
            <a:avLst/>
          </a:prstGeom>
        </p:spPr>
      </p:pic>
    </p:spTree>
    <p:extLst>
      <p:ext uri="{BB962C8B-B14F-4D97-AF65-F5344CB8AC3E}">
        <p14:creationId xmlns:p14="http://schemas.microsoft.com/office/powerpoint/2010/main" val="17048206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D035A-8E0F-ADDE-DD07-FCDFED367975}"/>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C62E1723-2F12-9D20-7F65-6A314CD42E7A}"/>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Marcador de número de diapositiva 4">
            <a:extLst>
              <a:ext uri="{FF2B5EF4-FFF2-40B4-BE49-F238E27FC236}">
                <a16:creationId xmlns:a16="http://schemas.microsoft.com/office/drawing/2014/main" id="{F4468CA6-EB69-20D5-DE70-B783FA5B2BFB}"/>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6" name="object 16">
            <a:extLst>
              <a:ext uri="{FF2B5EF4-FFF2-40B4-BE49-F238E27FC236}">
                <a16:creationId xmlns:a16="http://schemas.microsoft.com/office/drawing/2014/main" id="{1C7FDB15-2B87-3AFC-E851-3CFDF6EB4C38}"/>
              </a:ext>
            </a:extLst>
          </p:cNvPr>
          <p:cNvSpPr txBox="1">
            <a:spLocks noGrp="1"/>
          </p:cNvSpPr>
          <p:nvPr>
            <p:ph type="title"/>
          </p:nvPr>
        </p:nvSpPr>
        <p:spPr>
          <a:xfrm>
            <a:off x="590550" y="357758"/>
            <a:ext cx="1099185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EXTRA – Silicon-On-Insulator technology</a:t>
            </a:r>
            <a:br>
              <a:rPr lang="en-US" sz="2500" dirty="0"/>
            </a:br>
            <a:r>
              <a:rPr lang="en-US" b="0" dirty="0"/>
              <a:t>Width behavior simulations. Range 300nm-1µm (width = 500 nm ; height = 220 nm)</a:t>
            </a:r>
            <a:endParaRPr lang="en-US" sz="2500" b="0" dirty="0">
              <a:latin typeface="+mj-lt"/>
              <a:cs typeface="Lucida Sans"/>
            </a:endParaRPr>
          </a:p>
        </p:txBody>
      </p:sp>
      <p:pic>
        <p:nvPicPr>
          <p:cNvPr id="13" name="Imagen 12">
            <a:extLst>
              <a:ext uri="{FF2B5EF4-FFF2-40B4-BE49-F238E27FC236}">
                <a16:creationId xmlns:a16="http://schemas.microsoft.com/office/drawing/2014/main" id="{33EB018D-526A-F715-200F-9393A21BB81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348346" y="1219200"/>
            <a:ext cx="3376054" cy="3745764"/>
          </a:xfrm>
          <a:prstGeom prst="rect">
            <a:avLst/>
          </a:prstGeom>
        </p:spPr>
      </p:pic>
      <p:sp>
        <p:nvSpPr>
          <p:cNvPr id="16" name="CuadroTexto 15">
            <a:extLst>
              <a:ext uri="{FF2B5EF4-FFF2-40B4-BE49-F238E27FC236}">
                <a16:creationId xmlns:a16="http://schemas.microsoft.com/office/drawing/2014/main" id="{6F8ADD37-2BB1-FF8B-F782-C54E7D8EC9C6}"/>
              </a:ext>
            </a:extLst>
          </p:cNvPr>
          <p:cNvSpPr txBox="1"/>
          <p:nvPr/>
        </p:nvSpPr>
        <p:spPr>
          <a:xfrm>
            <a:off x="590550" y="5154451"/>
            <a:ext cx="10991850" cy="738664"/>
          </a:xfrm>
          <a:prstGeom prst="rect">
            <a:avLst/>
          </a:prstGeom>
          <a:solidFill>
            <a:schemeClr val="bg1">
              <a:lumMod val="95000"/>
            </a:schemeClr>
          </a:solidFill>
          <a:ln w="28575">
            <a:solidFill>
              <a:srgbClr val="E0700D"/>
            </a:solidFill>
          </a:ln>
        </p:spPr>
        <p:txBody>
          <a:bodyPr wrap="square" rtlCol="0">
            <a:spAutoFit/>
          </a:bodyPr>
          <a:lstStyle/>
          <a:p>
            <a:r>
              <a:rPr lang="es-ES" sz="1400" dirty="0">
                <a:latin typeface="Arial" panose="020B0604020202020204" pitchFamily="34" charset="0"/>
                <a:cs typeface="Arial" panose="020B0604020202020204" pitchFamily="34" charset="0"/>
              </a:rPr>
              <a:t>Analizando la evolución del </a:t>
            </a:r>
            <a:r>
              <a:rPr lang="es-ES" sz="1400" dirty="0" err="1">
                <a:latin typeface="Arial" panose="020B0604020202020204" pitchFamily="34" charset="0"/>
                <a:cs typeface="Arial" panose="020B0604020202020204" pitchFamily="34" charset="0"/>
              </a:rPr>
              <a:t>n_eff</a:t>
            </a:r>
            <a:r>
              <a:rPr lang="es-ES" sz="1400" dirty="0">
                <a:latin typeface="Arial" panose="020B0604020202020204" pitchFamily="34" charset="0"/>
                <a:cs typeface="Arial" panose="020B0604020202020204" pitchFamily="34" charset="0"/>
              </a:rPr>
              <a:t> respecto del ancho, observamos que el Modo 3 queda descartado a este ancho (</a:t>
            </a:r>
            <a:r>
              <a:rPr lang="es-ES" sz="1400" dirty="0" err="1">
                <a:latin typeface="Arial" panose="020B0604020202020204" pitchFamily="34" charset="0"/>
                <a:cs typeface="Arial" panose="020B0604020202020204" pitchFamily="34" charset="0"/>
              </a:rPr>
              <a:t>width</a:t>
            </a:r>
            <a:r>
              <a:rPr lang="es-ES" sz="1400" dirty="0">
                <a:latin typeface="Arial" panose="020B0604020202020204" pitchFamily="34" charset="0"/>
                <a:cs typeface="Arial" panose="020B0604020202020204" pitchFamily="34" charset="0"/>
              </a:rPr>
              <a:t> = 0.5µm) al ser inferior al </a:t>
            </a:r>
            <a:r>
              <a:rPr lang="es-ES" sz="1400" dirty="0" err="1">
                <a:latin typeface="Arial" panose="020B0604020202020204" pitchFamily="34" charset="0"/>
                <a:cs typeface="Arial" panose="020B0604020202020204" pitchFamily="34" charset="0"/>
              </a:rPr>
              <a:t>n_cladding</a:t>
            </a:r>
            <a:r>
              <a:rPr lang="es-ES" sz="1400" dirty="0">
                <a:latin typeface="Arial" panose="020B0604020202020204" pitchFamily="34" charset="0"/>
                <a:cs typeface="Arial" panose="020B0604020202020204" pitchFamily="34" charset="0"/>
              </a:rPr>
              <a:t> (1.433691 &lt; 1.44), mientras que el Modo 2 se queda cerca del corte. Por otro lado, los primeros modos quedan bien confinados en el núcleo a estos anchos y no suponen ningún problema.</a:t>
            </a:r>
          </a:p>
        </p:txBody>
      </p:sp>
      <p:grpSp>
        <p:nvGrpSpPr>
          <p:cNvPr id="3" name="Grupo 2">
            <a:extLst>
              <a:ext uri="{FF2B5EF4-FFF2-40B4-BE49-F238E27FC236}">
                <a16:creationId xmlns:a16="http://schemas.microsoft.com/office/drawing/2014/main" id="{597D7515-C4F2-EDF4-AEF6-1257DD8118C4}"/>
              </a:ext>
            </a:extLst>
          </p:cNvPr>
          <p:cNvGrpSpPr/>
          <p:nvPr/>
        </p:nvGrpSpPr>
        <p:grpSpPr>
          <a:xfrm>
            <a:off x="5638800" y="1219200"/>
            <a:ext cx="5943600" cy="3745764"/>
            <a:chOff x="5638800" y="1219200"/>
            <a:chExt cx="5943600" cy="3745764"/>
          </a:xfrm>
        </p:grpSpPr>
        <p:sp>
          <p:nvSpPr>
            <p:cNvPr id="7" name="Rectángulo 6">
              <a:extLst>
                <a:ext uri="{FF2B5EF4-FFF2-40B4-BE49-F238E27FC236}">
                  <a16:creationId xmlns:a16="http://schemas.microsoft.com/office/drawing/2014/main" id="{D3F6D91A-9C26-E18C-BC41-9E30795803B3}"/>
                </a:ext>
              </a:extLst>
            </p:cNvPr>
            <p:cNvSpPr/>
            <p:nvPr/>
          </p:nvSpPr>
          <p:spPr>
            <a:xfrm>
              <a:off x="5638800" y="1219200"/>
              <a:ext cx="5943600" cy="374576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Imagen 17">
              <a:extLst>
                <a:ext uri="{FF2B5EF4-FFF2-40B4-BE49-F238E27FC236}">
                  <a16:creationId xmlns:a16="http://schemas.microsoft.com/office/drawing/2014/main" id="{BD9D937B-4290-7290-951B-7D74A31A6DF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791200" y="1428609"/>
              <a:ext cx="5715000" cy="3326946"/>
            </a:xfrm>
            <a:prstGeom prst="rect">
              <a:avLst/>
            </a:prstGeom>
          </p:spPr>
        </p:pic>
      </p:grpSp>
    </p:spTree>
    <p:extLst>
      <p:ext uri="{BB962C8B-B14F-4D97-AF65-F5344CB8AC3E}">
        <p14:creationId xmlns:p14="http://schemas.microsoft.com/office/powerpoint/2010/main" val="22038312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63F78-0569-C57A-39B7-46ADC9445B52}"/>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6C8A3926-8BAC-9656-7A35-0354DC1B8C52}"/>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Marcador de número de diapositiva 4">
            <a:extLst>
              <a:ext uri="{FF2B5EF4-FFF2-40B4-BE49-F238E27FC236}">
                <a16:creationId xmlns:a16="http://schemas.microsoft.com/office/drawing/2014/main" id="{9B025756-A824-007E-8AD5-3AA6D873BB06}"/>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6" name="object 16">
            <a:extLst>
              <a:ext uri="{FF2B5EF4-FFF2-40B4-BE49-F238E27FC236}">
                <a16:creationId xmlns:a16="http://schemas.microsoft.com/office/drawing/2014/main" id="{FD567703-2391-F161-AA2C-38BB7364B19B}"/>
              </a:ext>
            </a:extLst>
          </p:cNvPr>
          <p:cNvSpPr txBox="1">
            <a:spLocks noGrp="1"/>
          </p:cNvSpPr>
          <p:nvPr>
            <p:ph type="title"/>
          </p:nvPr>
        </p:nvSpPr>
        <p:spPr>
          <a:xfrm>
            <a:off x="590550" y="357758"/>
            <a:ext cx="1099185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EXTRA – Silicon-On-Insulator technology</a:t>
            </a:r>
            <a:br>
              <a:rPr lang="en-US" sz="2500" dirty="0"/>
            </a:br>
            <a:r>
              <a:rPr lang="en-US" b="0" dirty="0"/>
              <a:t>Width behavior simulations. Range 300nm-1µm (width = 500 nm ; height = 220 nm)</a:t>
            </a:r>
            <a:endParaRPr lang="en-US" sz="2500" b="0" dirty="0">
              <a:latin typeface="+mj-lt"/>
              <a:cs typeface="Lucida Sans"/>
            </a:endParaRPr>
          </a:p>
        </p:txBody>
      </p:sp>
      <p:sp>
        <p:nvSpPr>
          <p:cNvPr id="16" name="CuadroTexto 15">
            <a:extLst>
              <a:ext uri="{FF2B5EF4-FFF2-40B4-BE49-F238E27FC236}">
                <a16:creationId xmlns:a16="http://schemas.microsoft.com/office/drawing/2014/main" id="{F52DF1DA-C5CB-BB30-3E2F-9669BC55A531}"/>
              </a:ext>
            </a:extLst>
          </p:cNvPr>
          <p:cNvSpPr txBox="1"/>
          <p:nvPr/>
        </p:nvSpPr>
        <p:spPr>
          <a:xfrm>
            <a:off x="152400" y="1219200"/>
            <a:ext cx="3114848" cy="3754874"/>
          </a:xfrm>
          <a:prstGeom prst="rect">
            <a:avLst/>
          </a:prstGeom>
          <a:solidFill>
            <a:schemeClr val="bg1">
              <a:lumMod val="95000"/>
            </a:schemeClr>
          </a:solidFill>
          <a:ln w="28575">
            <a:solidFill>
              <a:srgbClr val="E0700D"/>
            </a:solidFill>
          </a:ln>
        </p:spPr>
        <p:txBody>
          <a:bodyPr wrap="square" rtlCol="0">
            <a:spAutoFit/>
          </a:bodyPr>
          <a:lstStyle/>
          <a:p>
            <a:r>
              <a:rPr lang="es-ES" sz="1400" dirty="0">
                <a:latin typeface="Arial" panose="020B0604020202020204" pitchFamily="34" charset="0"/>
                <a:cs typeface="Arial" panose="020B0604020202020204" pitchFamily="34" charset="0"/>
              </a:rPr>
              <a:t>Si nos centramos en la polarización respecto del ancho, podemos observar alteraciones de polarización según el rango analizado. </a:t>
            </a:r>
          </a:p>
          <a:p>
            <a:endParaRPr lang="es-ES" sz="1400" dirty="0">
              <a:latin typeface="Arial" panose="020B0604020202020204" pitchFamily="34" charset="0"/>
              <a:cs typeface="Arial" panose="020B0604020202020204" pitchFamily="34" charset="0"/>
            </a:endParaRPr>
          </a:p>
          <a:p>
            <a:r>
              <a:rPr lang="es-ES" sz="1400" dirty="0">
                <a:latin typeface="Arial" panose="020B0604020202020204" pitchFamily="34" charset="0"/>
                <a:cs typeface="Arial" panose="020B0604020202020204" pitchFamily="34" charset="0"/>
              </a:rPr>
              <a:t>En el ancho estudiado en esta ocasión (</a:t>
            </a:r>
            <a:r>
              <a:rPr lang="es-ES" sz="1400" dirty="0" err="1">
                <a:latin typeface="Arial" panose="020B0604020202020204" pitchFamily="34" charset="0"/>
                <a:cs typeface="Arial" panose="020B0604020202020204" pitchFamily="34" charset="0"/>
              </a:rPr>
              <a:t>width</a:t>
            </a:r>
            <a:r>
              <a:rPr lang="es-ES" sz="1400" dirty="0">
                <a:latin typeface="Arial" panose="020B0604020202020204" pitchFamily="34" charset="0"/>
                <a:cs typeface="Arial" panose="020B0604020202020204" pitchFamily="34" charset="0"/>
              </a:rPr>
              <a:t> = 0.5µm), los modos quedarían con la siguiente polarización:</a:t>
            </a:r>
          </a:p>
          <a:p>
            <a:pPr marL="285750" indent="-285750">
              <a:buFont typeface="Arial" panose="020B0604020202020204" pitchFamily="34" charset="0"/>
              <a:buChar char="•"/>
            </a:pPr>
            <a:r>
              <a:rPr lang="es-ES" sz="1400" dirty="0" err="1">
                <a:latin typeface="Arial" panose="020B0604020202020204" pitchFamily="34" charset="0"/>
                <a:cs typeface="Arial" panose="020B0604020202020204" pitchFamily="34" charset="0"/>
              </a:rPr>
              <a:t>Mode</a:t>
            </a:r>
            <a:r>
              <a:rPr lang="es-ES" sz="1400" dirty="0">
                <a:latin typeface="Arial" panose="020B0604020202020204" pitchFamily="34" charset="0"/>
                <a:cs typeface="Arial" panose="020B0604020202020204" pitchFamily="34" charset="0"/>
              </a:rPr>
              <a:t> 0: </a:t>
            </a:r>
            <a:r>
              <a:rPr lang="es-ES" sz="1400" dirty="0">
                <a:solidFill>
                  <a:srgbClr val="0070C0"/>
                </a:solidFill>
                <a:latin typeface="Arial" panose="020B0604020202020204" pitchFamily="34" charset="0"/>
                <a:cs typeface="Arial" panose="020B0604020202020204" pitchFamily="34" charset="0"/>
              </a:rPr>
              <a:t>TE</a:t>
            </a:r>
            <a:r>
              <a:rPr lang="es-ES" sz="1400" dirty="0">
                <a:latin typeface="Arial" panose="020B0604020202020204" pitchFamily="34" charset="0"/>
                <a:cs typeface="Arial" panose="020B0604020202020204" pitchFamily="34" charset="0"/>
              </a:rPr>
              <a:t> puro (</a:t>
            </a:r>
            <a:r>
              <a:rPr lang="es-ES" sz="1400" dirty="0" err="1">
                <a:latin typeface="Arial" panose="020B0604020202020204" pitchFamily="34" charset="0"/>
                <a:cs typeface="Arial" panose="020B0604020202020204" pitchFamily="34" charset="0"/>
              </a:rPr>
              <a:t>fraction_TE</a:t>
            </a:r>
            <a:r>
              <a:rPr lang="es-ES" sz="1400" dirty="0">
                <a:latin typeface="Arial" panose="020B0604020202020204" pitchFamily="34" charset="0"/>
                <a:cs typeface="Arial" panose="020B0604020202020204" pitchFamily="34" charset="0"/>
              </a:rPr>
              <a:t> = 0.982)</a:t>
            </a:r>
          </a:p>
          <a:p>
            <a:pPr marL="285750" indent="-285750">
              <a:buFont typeface="Arial" panose="020B0604020202020204" pitchFamily="34" charset="0"/>
              <a:buChar char="•"/>
            </a:pPr>
            <a:r>
              <a:rPr lang="es-ES" sz="1400" dirty="0" err="1">
                <a:latin typeface="Arial" panose="020B0604020202020204" pitchFamily="34" charset="0"/>
                <a:cs typeface="Arial" panose="020B0604020202020204" pitchFamily="34" charset="0"/>
              </a:rPr>
              <a:t>Mode</a:t>
            </a:r>
            <a:r>
              <a:rPr lang="es-ES" sz="1400" dirty="0">
                <a:latin typeface="Arial" panose="020B0604020202020204" pitchFamily="34" charset="0"/>
                <a:cs typeface="Arial" panose="020B0604020202020204" pitchFamily="34" charset="0"/>
              </a:rPr>
              <a:t> 1: </a:t>
            </a:r>
            <a:r>
              <a:rPr lang="es-ES" sz="1400" dirty="0">
                <a:solidFill>
                  <a:srgbClr val="C00000"/>
                </a:solidFill>
                <a:latin typeface="Arial" panose="020B0604020202020204" pitchFamily="34" charset="0"/>
                <a:cs typeface="Arial" panose="020B0604020202020204" pitchFamily="34" charset="0"/>
              </a:rPr>
              <a:t>TM</a:t>
            </a:r>
            <a:r>
              <a:rPr lang="es-ES" sz="1400" dirty="0">
                <a:latin typeface="Arial" panose="020B0604020202020204" pitchFamily="34" charset="0"/>
                <a:cs typeface="Arial" panose="020B0604020202020204" pitchFamily="34" charset="0"/>
              </a:rPr>
              <a:t> (</a:t>
            </a:r>
            <a:r>
              <a:rPr lang="es-ES" sz="1400" dirty="0" err="1">
                <a:latin typeface="Arial" panose="020B0604020202020204" pitchFamily="34" charset="0"/>
                <a:cs typeface="Arial" panose="020B0604020202020204" pitchFamily="34" charset="0"/>
              </a:rPr>
              <a:t>fraction_TE</a:t>
            </a:r>
            <a:r>
              <a:rPr lang="es-ES" sz="1400" dirty="0">
                <a:latin typeface="Arial" panose="020B0604020202020204" pitchFamily="34" charset="0"/>
                <a:cs typeface="Arial" panose="020B0604020202020204" pitchFamily="34" charset="0"/>
              </a:rPr>
              <a:t> = 0.058)</a:t>
            </a:r>
          </a:p>
          <a:p>
            <a:pPr marL="285750" indent="-285750">
              <a:buFont typeface="Arial" panose="020B0604020202020204" pitchFamily="34" charset="0"/>
              <a:buChar char="•"/>
            </a:pPr>
            <a:r>
              <a:rPr lang="es-ES" sz="1400" dirty="0" err="1">
                <a:latin typeface="Arial" panose="020B0604020202020204" pitchFamily="34" charset="0"/>
                <a:cs typeface="Arial" panose="020B0604020202020204" pitchFamily="34" charset="0"/>
              </a:rPr>
              <a:t>Mode</a:t>
            </a:r>
            <a:r>
              <a:rPr lang="es-ES" sz="1400" dirty="0">
                <a:latin typeface="Arial" panose="020B0604020202020204" pitchFamily="34" charset="0"/>
                <a:cs typeface="Arial" panose="020B0604020202020204" pitchFamily="34" charset="0"/>
              </a:rPr>
              <a:t> 2: </a:t>
            </a:r>
            <a:r>
              <a:rPr lang="es-ES" sz="1400" dirty="0">
                <a:solidFill>
                  <a:srgbClr val="0070C0"/>
                </a:solidFill>
                <a:latin typeface="Arial" panose="020B0604020202020204" pitchFamily="34" charset="0"/>
                <a:cs typeface="Arial" panose="020B0604020202020204" pitchFamily="34" charset="0"/>
              </a:rPr>
              <a:t>TE</a:t>
            </a:r>
            <a:r>
              <a:rPr lang="es-ES" sz="1400" dirty="0">
                <a:latin typeface="Arial" panose="020B0604020202020204" pitchFamily="34" charset="0"/>
                <a:cs typeface="Arial" panose="020B0604020202020204" pitchFamily="34" charset="0"/>
              </a:rPr>
              <a:t> (</a:t>
            </a:r>
            <a:r>
              <a:rPr lang="es-ES" sz="1400" dirty="0" err="1">
                <a:latin typeface="Arial" panose="020B0604020202020204" pitchFamily="34" charset="0"/>
                <a:cs typeface="Arial" panose="020B0604020202020204" pitchFamily="34" charset="0"/>
              </a:rPr>
              <a:t>fraction_TE</a:t>
            </a:r>
            <a:r>
              <a:rPr lang="es-ES" sz="1400" dirty="0">
                <a:latin typeface="Arial" panose="020B0604020202020204" pitchFamily="34" charset="0"/>
                <a:cs typeface="Arial" panose="020B0604020202020204" pitchFamily="34" charset="0"/>
              </a:rPr>
              <a:t> = 0.746)</a:t>
            </a:r>
          </a:p>
          <a:p>
            <a:pPr marL="285750" indent="-285750">
              <a:buFont typeface="Arial" panose="020B0604020202020204" pitchFamily="34" charset="0"/>
              <a:buChar char="•"/>
            </a:pPr>
            <a:r>
              <a:rPr lang="es-ES" sz="1400" dirty="0" err="1">
                <a:latin typeface="Arial" panose="020B0604020202020204" pitchFamily="34" charset="0"/>
                <a:cs typeface="Arial" panose="020B0604020202020204" pitchFamily="34" charset="0"/>
              </a:rPr>
              <a:t>Mode</a:t>
            </a:r>
            <a:r>
              <a:rPr lang="es-ES" sz="1400" dirty="0">
                <a:latin typeface="Arial" panose="020B0604020202020204" pitchFamily="34" charset="0"/>
                <a:cs typeface="Arial" panose="020B0604020202020204" pitchFamily="34" charset="0"/>
              </a:rPr>
              <a:t> 3 (descartado): </a:t>
            </a:r>
            <a:r>
              <a:rPr lang="es-ES" sz="1400" dirty="0">
                <a:solidFill>
                  <a:srgbClr val="0070C0"/>
                </a:solidFill>
                <a:latin typeface="Arial" panose="020B0604020202020204" pitchFamily="34" charset="0"/>
                <a:cs typeface="Arial" panose="020B0604020202020204" pitchFamily="34" charset="0"/>
              </a:rPr>
              <a:t>TE</a:t>
            </a:r>
            <a:r>
              <a:rPr lang="es-ES" sz="1400" dirty="0">
                <a:latin typeface="Arial" panose="020B0604020202020204" pitchFamily="34" charset="0"/>
                <a:cs typeface="Arial" panose="020B0604020202020204" pitchFamily="34" charset="0"/>
              </a:rPr>
              <a:t> puro (</a:t>
            </a:r>
            <a:r>
              <a:rPr lang="es-ES" sz="1400" dirty="0" err="1">
                <a:latin typeface="Arial" panose="020B0604020202020204" pitchFamily="34" charset="0"/>
                <a:cs typeface="Arial" panose="020B0604020202020204" pitchFamily="34" charset="0"/>
              </a:rPr>
              <a:t>fraction_TE</a:t>
            </a:r>
            <a:r>
              <a:rPr lang="es-ES" sz="1400" dirty="0">
                <a:latin typeface="Arial" panose="020B0604020202020204" pitchFamily="34" charset="0"/>
                <a:cs typeface="Arial" panose="020B0604020202020204" pitchFamily="34" charset="0"/>
              </a:rPr>
              <a:t> = 0.992)</a:t>
            </a:r>
          </a:p>
        </p:txBody>
      </p:sp>
      <p:sp>
        <p:nvSpPr>
          <p:cNvPr id="7" name="Rectángulo 6">
            <a:extLst>
              <a:ext uri="{FF2B5EF4-FFF2-40B4-BE49-F238E27FC236}">
                <a16:creationId xmlns:a16="http://schemas.microsoft.com/office/drawing/2014/main" id="{DA7900B3-F97A-7FFE-D4A2-7263C1DBE1DB}"/>
              </a:ext>
            </a:extLst>
          </p:cNvPr>
          <p:cNvSpPr/>
          <p:nvPr/>
        </p:nvSpPr>
        <p:spPr>
          <a:xfrm>
            <a:off x="6019800" y="1219200"/>
            <a:ext cx="5943600" cy="374576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Imagen 17">
            <a:extLst>
              <a:ext uri="{FF2B5EF4-FFF2-40B4-BE49-F238E27FC236}">
                <a16:creationId xmlns:a16="http://schemas.microsoft.com/office/drawing/2014/main" id="{C7B23736-C344-46CE-F991-667E5337FA1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72200" y="1428761"/>
            <a:ext cx="5715000" cy="3326641"/>
          </a:xfrm>
          <a:prstGeom prst="rect">
            <a:avLst/>
          </a:prstGeom>
        </p:spPr>
      </p:pic>
      <p:pic>
        <p:nvPicPr>
          <p:cNvPr id="21" name="Imagen 20">
            <a:extLst>
              <a:ext uri="{FF2B5EF4-FFF2-40B4-BE49-F238E27FC236}">
                <a16:creationId xmlns:a16="http://schemas.microsoft.com/office/drawing/2014/main" id="{4E8347BE-E9EF-3F91-9EA0-654FD339F75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419649" y="1594413"/>
            <a:ext cx="2343128" cy="2995338"/>
          </a:xfrm>
          <a:prstGeom prst="rect">
            <a:avLst/>
          </a:prstGeom>
        </p:spPr>
      </p:pic>
      <p:sp>
        <p:nvSpPr>
          <p:cNvPr id="2" name="CuadroTexto 1">
            <a:extLst>
              <a:ext uri="{FF2B5EF4-FFF2-40B4-BE49-F238E27FC236}">
                <a16:creationId xmlns:a16="http://schemas.microsoft.com/office/drawing/2014/main" id="{B971D8D5-FA1A-335A-A736-AA5D91BB2126}"/>
              </a:ext>
            </a:extLst>
          </p:cNvPr>
          <p:cNvSpPr txBox="1"/>
          <p:nvPr/>
        </p:nvSpPr>
        <p:spPr>
          <a:xfrm>
            <a:off x="1890788" y="5284431"/>
            <a:ext cx="8410423" cy="954107"/>
          </a:xfrm>
          <a:prstGeom prst="rect">
            <a:avLst/>
          </a:prstGeom>
          <a:solidFill>
            <a:schemeClr val="bg1">
              <a:lumMod val="95000"/>
            </a:schemeClr>
          </a:solidFill>
          <a:ln w="28575">
            <a:solidFill>
              <a:srgbClr val="E0700D"/>
            </a:solidFill>
          </a:ln>
        </p:spPr>
        <p:txBody>
          <a:bodyPr wrap="square" rtlCol="0">
            <a:spAutoFit/>
          </a:bodyPr>
          <a:lstStyle/>
          <a:p>
            <a:r>
              <a:rPr lang="es-ES" sz="1400" dirty="0">
                <a:latin typeface="Arial" panose="020B0604020202020204" pitchFamily="34" charset="0"/>
                <a:cs typeface="Arial" panose="020B0604020202020204" pitchFamily="34" charset="0"/>
              </a:rPr>
              <a:t>Cabe destacar que, a diferencia de la </a:t>
            </a:r>
            <a:r>
              <a:rPr lang="es-ES" sz="1400" dirty="0" err="1">
                <a:latin typeface="Arial" panose="020B0604020202020204" pitchFamily="34" charset="0"/>
                <a:cs typeface="Arial" panose="020B0604020202020204" pitchFamily="34" charset="0"/>
              </a:rPr>
              <a:t>waveguide</a:t>
            </a:r>
            <a:r>
              <a:rPr lang="es-ES" sz="1400" dirty="0">
                <a:latin typeface="Arial" panose="020B0604020202020204" pitchFamily="34" charset="0"/>
                <a:cs typeface="Arial" panose="020B0604020202020204" pitchFamily="34" charset="0"/>
              </a:rPr>
              <a:t> estudiada anteriormente, en la tecnología SOI no queda tan claro la polarización de los diferentes modos de operación según variamos el ancho de la guía. En este caso podemos apreciar modos más híbridos, que incluso cambian de polarización en pequeñas variaciones de anchura.</a:t>
            </a:r>
          </a:p>
        </p:txBody>
      </p:sp>
    </p:spTree>
    <p:extLst>
      <p:ext uri="{BB962C8B-B14F-4D97-AF65-F5344CB8AC3E}">
        <p14:creationId xmlns:p14="http://schemas.microsoft.com/office/powerpoint/2010/main" val="34396936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B43E1-F582-2F9C-CB8C-552154FB34B8}"/>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42C056BA-F403-5C6A-7713-FE946AE775EE}"/>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Marcador de número de diapositiva 4">
            <a:extLst>
              <a:ext uri="{FF2B5EF4-FFF2-40B4-BE49-F238E27FC236}">
                <a16:creationId xmlns:a16="http://schemas.microsoft.com/office/drawing/2014/main" id="{E007F704-206A-2717-E153-5B31B7DE31B3}"/>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6" name="object 16">
            <a:extLst>
              <a:ext uri="{FF2B5EF4-FFF2-40B4-BE49-F238E27FC236}">
                <a16:creationId xmlns:a16="http://schemas.microsoft.com/office/drawing/2014/main" id="{14239732-59FF-E327-FA61-F9407B923C80}"/>
              </a:ext>
            </a:extLst>
          </p:cNvPr>
          <p:cNvSpPr txBox="1">
            <a:spLocks noGrp="1"/>
          </p:cNvSpPr>
          <p:nvPr>
            <p:ph type="title"/>
          </p:nvPr>
        </p:nvSpPr>
        <p:spPr>
          <a:xfrm>
            <a:off x="590550" y="357758"/>
            <a:ext cx="1099185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EXTRA – Silicon-On-Insulator technology</a:t>
            </a:r>
            <a:br>
              <a:rPr lang="en-US" sz="2500" dirty="0"/>
            </a:br>
            <a:r>
              <a:rPr lang="en-US" b="0" dirty="0"/>
              <a:t>Radius behavior simulations. Range 5µm-30µm (width = 500 nm ; height = 220 nm)</a:t>
            </a:r>
            <a:endParaRPr lang="en-US" sz="2500" b="0" dirty="0">
              <a:latin typeface="+mj-lt"/>
              <a:cs typeface="Lucida Sans"/>
            </a:endParaRPr>
          </a:p>
        </p:txBody>
      </p:sp>
      <p:sp>
        <p:nvSpPr>
          <p:cNvPr id="20" name="CuadroTexto 19">
            <a:extLst>
              <a:ext uri="{FF2B5EF4-FFF2-40B4-BE49-F238E27FC236}">
                <a16:creationId xmlns:a16="http://schemas.microsoft.com/office/drawing/2014/main" id="{23E4CF9B-F3B8-49BC-806D-269DF51FE11D}"/>
              </a:ext>
            </a:extLst>
          </p:cNvPr>
          <p:cNvSpPr txBox="1"/>
          <p:nvPr/>
        </p:nvSpPr>
        <p:spPr>
          <a:xfrm>
            <a:off x="889105" y="5155049"/>
            <a:ext cx="6730895" cy="1169551"/>
          </a:xfrm>
          <a:prstGeom prst="rect">
            <a:avLst/>
          </a:prstGeom>
          <a:solidFill>
            <a:schemeClr val="bg1">
              <a:lumMod val="95000"/>
            </a:schemeClr>
          </a:solidFill>
          <a:ln w="28575">
            <a:solidFill>
              <a:srgbClr val="E0700D"/>
            </a:solidFill>
          </a:ln>
        </p:spPr>
        <p:txBody>
          <a:bodyPr wrap="square" rtlCol="0">
            <a:spAutoFit/>
          </a:bodyPr>
          <a:lstStyle/>
          <a:p>
            <a:r>
              <a:rPr lang="es-ES" sz="1400" dirty="0">
                <a:latin typeface="Arial" panose="020B0604020202020204" pitchFamily="34" charset="0"/>
                <a:cs typeface="Arial" panose="020B0604020202020204" pitchFamily="34" charset="0"/>
              </a:rPr>
              <a:t>Analizando las pérdidas por curvatura, podemos apreciar como la tecnología SOI es mucho menos susceptible a este suceso. Observando la tabla de pérdidas frente al radio de curvatura, observamos que todos los valores de pérdidas en el rango analizado permanecen dentro de la zona segura, es decir, sin superar el umbral de pérdidas de 0.1dB/90º.</a:t>
            </a:r>
          </a:p>
        </p:txBody>
      </p:sp>
      <p:grpSp>
        <p:nvGrpSpPr>
          <p:cNvPr id="14" name="Grupo 13">
            <a:extLst>
              <a:ext uri="{FF2B5EF4-FFF2-40B4-BE49-F238E27FC236}">
                <a16:creationId xmlns:a16="http://schemas.microsoft.com/office/drawing/2014/main" id="{28A96152-9A1B-D43C-04F7-38D6F177634E}"/>
              </a:ext>
            </a:extLst>
          </p:cNvPr>
          <p:cNvGrpSpPr/>
          <p:nvPr/>
        </p:nvGrpSpPr>
        <p:grpSpPr>
          <a:xfrm>
            <a:off x="889105" y="1152525"/>
            <a:ext cx="4927390" cy="3779406"/>
            <a:chOff x="1143000" y="1102474"/>
            <a:chExt cx="4927390" cy="3779406"/>
          </a:xfrm>
        </p:grpSpPr>
        <p:sp>
          <p:nvSpPr>
            <p:cNvPr id="9" name="Rectángulo 8">
              <a:extLst>
                <a:ext uri="{FF2B5EF4-FFF2-40B4-BE49-F238E27FC236}">
                  <a16:creationId xmlns:a16="http://schemas.microsoft.com/office/drawing/2014/main" id="{2EEFD53D-31F1-9BF1-13CA-A749287C45D5}"/>
                </a:ext>
              </a:extLst>
            </p:cNvPr>
            <p:cNvSpPr/>
            <p:nvPr/>
          </p:nvSpPr>
          <p:spPr>
            <a:xfrm>
              <a:off x="1143000" y="1102474"/>
              <a:ext cx="4927390" cy="3779406"/>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Imagen 7">
              <a:extLst>
                <a:ext uri="{FF2B5EF4-FFF2-40B4-BE49-F238E27FC236}">
                  <a16:creationId xmlns:a16="http://schemas.microsoft.com/office/drawing/2014/main" id="{1410ACAA-BBE5-D206-0E0C-BA902B61158F}"/>
                </a:ext>
              </a:extLst>
            </p:cNvPr>
            <p:cNvPicPr>
              <a:picLocks noChangeAspect="1"/>
            </p:cNvPicPr>
            <p:nvPr/>
          </p:nvPicPr>
          <p:blipFill>
            <a:blip r:embed="rId2"/>
            <a:stretch>
              <a:fillRect/>
            </a:stretch>
          </p:blipFill>
          <p:spPr>
            <a:xfrm>
              <a:off x="1219200" y="1152525"/>
              <a:ext cx="4690682" cy="3705313"/>
            </a:xfrm>
            <a:prstGeom prst="rect">
              <a:avLst/>
            </a:prstGeom>
          </p:spPr>
        </p:pic>
      </p:grpSp>
      <p:grpSp>
        <p:nvGrpSpPr>
          <p:cNvPr id="15" name="Grupo 14">
            <a:extLst>
              <a:ext uri="{FF2B5EF4-FFF2-40B4-BE49-F238E27FC236}">
                <a16:creationId xmlns:a16="http://schemas.microsoft.com/office/drawing/2014/main" id="{14CD90C2-D4EE-E6AF-C323-E71405BA973F}"/>
              </a:ext>
            </a:extLst>
          </p:cNvPr>
          <p:cNvGrpSpPr/>
          <p:nvPr/>
        </p:nvGrpSpPr>
        <p:grpSpPr>
          <a:xfrm>
            <a:off x="6197497" y="1152525"/>
            <a:ext cx="5105398" cy="3779406"/>
            <a:chOff x="6629402" y="1093672"/>
            <a:chExt cx="5105398" cy="3779406"/>
          </a:xfrm>
        </p:grpSpPr>
        <p:sp>
          <p:nvSpPr>
            <p:cNvPr id="2" name="Rectángulo 1">
              <a:extLst>
                <a:ext uri="{FF2B5EF4-FFF2-40B4-BE49-F238E27FC236}">
                  <a16:creationId xmlns:a16="http://schemas.microsoft.com/office/drawing/2014/main" id="{90328FFD-CB43-5B01-0E88-60EA9A3FAE92}"/>
                </a:ext>
              </a:extLst>
            </p:cNvPr>
            <p:cNvSpPr/>
            <p:nvPr/>
          </p:nvSpPr>
          <p:spPr>
            <a:xfrm>
              <a:off x="6629402" y="1093672"/>
              <a:ext cx="5105398" cy="3779406"/>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Imagen 12">
              <a:extLst>
                <a:ext uri="{FF2B5EF4-FFF2-40B4-BE49-F238E27FC236}">
                  <a16:creationId xmlns:a16="http://schemas.microsoft.com/office/drawing/2014/main" id="{D8A4CADE-B5C1-CA80-9CAD-845DD1499522}"/>
                </a:ext>
              </a:extLst>
            </p:cNvPr>
            <p:cNvPicPr>
              <a:picLocks noChangeAspect="1"/>
            </p:cNvPicPr>
            <p:nvPr/>
          </p:nvPicPr>
          <p:blipFill>
            <a:blip r:embed="rId3"/>
            <a:stretch>
              <a:fillRect/>
            </a:stretch>
          </p:blipFill>
          <p:spPr>
            <a:xfrm>
              <a:off x="6705600" y="1152525"/>
              <a:ext cx="4902414" cy="3705313"/>
            </a:xfrm>
            <a:prstGeom prst="rect">
              <a:avLst/>
            </a:prstGeom>
          </p:spPr>
        </p:pic>
      </p:grpSp>
      <p:sp>
        <p:nvSpPr>
          <p:cNvPr id="16" name="CuadroTexto 15">
            <a:extLst>
              <a:ext uri="{FF2B5EF4-FFF2-40B4-BE49-F238E27FC236}">
                <a16:creationId xmlns:a16="http://schemas.microsoft.com/office/drawing/2014/main" id="{26BD97C7-4D9F-446B-BECC-FE3A680B4CC4}"/>
              </a:ext>
            </a:extLst>
          </p:cNvPr>
          <p:cNvSpPr txBox="1"/>
          <p:nvPr/>
        </p:nvSpPr>
        <p:spPr>
          <a:xfrm>
            <a:off x="8178696" y="5041285"/>
            <a:ext cx="3124199" cy="1600438"/>
          </a:xfrm>
          <a:prstGeom prst="rect">
            <a:avLst/>
          </a:prstGeom>
          <a:solidFill>
            <a:schemeClr val="bg1">
              <a:lumMod val="95000"/>
            </a:schemeClr>
          </a:solidFill>
          <a:ln w="28575">
            <a:solidFill>
              <a:srgbClr val="E0700D"/>
            </a:solidFill>
          </a:ln>
        </p:spPr>
        <p:txBody>
          <a:bodyPr wrap="square" rtlCol="0">
            <a:spAutoFit/>
          </a:bodyPr>
          <a:lstStyle/>
          <a:p>
            <a:r>
              <a:rPr lang="es-ES" sz="1400">
                <a:latin typeface="Arial" panose="020B0604020202020204" pitchFamily="34" charset="0"/>
                <a:cs typeface="Arial" panose="020B0604020202020204" pitchFamily="34" charset="0"/>
              </a:rPr>
              <a:t>=== SOI - Total loss per radius ===</a:t>
            </a:r>
          </a:p>
          <a:p>
            <a:r>
              <a:rPr lang="es-ES" sz="1400">
                <a:latin typeface="Arial" panose="020B0604020202020204" pitchFamily="34" charset="0"/>
                <a:cs typeface="Arial" panose="020B0604020202020204" pitchFamily="34" charset="0"/>
              </a:rPr>
              <a:t>R =   5 µm: 0.0139 dB/90º ✓ SAFE</a:t>
            </a:r>
          </a:p>
          <a:p>
            <a:r>
              <a:rPr lang="es-ES" sz="1400">
                <a:latin typeface="Arial" panose="020B0604020202020204" pitchFamily="34" charset="0"/>
                <a:cs typeface="Arial" panose="020B0604020202020204" pitchFamily="34" charset="0"/>
              </a:rPr>
              <a:t>R =  10 µm: 0.0062 dB/90º ✓ SAFE</a:t>
            </a:r>
          </a:p>
          <a:p>
            <a:r>
              <a:rPr lang="es-ES" sz="1400">
                <a:latin typeface="Arial" panose="020B0604020202020204" pitchFamily="34" charset="0"/>
                <a:cs typeface="Arial" panose="020B0604020202020204" pitchFamily="34" charset="0"/>
              </a:rPr>
              <a:t>R =  15 µm: 0.0061 dB/90º ✓ SAFE</a:t>
            </a:r>
          </a:p>
          <a:p>
            <a:r>
              <a:rPr lang="es-ES" sz="1400">
                <a:latin typeface="Arial" panose="020B0604020202020204" pitchFamily="34" charset="0"/>
                <a:cs typeface="Arial" panose="020B0604020202020204" pitchFamily="34" charset="0"/>
              </a:rPr>
              <a:t>R =  20 µm: 0.0070 dB/90º ✓ SAFE</a:t>
            </a:r>
          </a:p>
          <a:p>
            <a:r>
              <a:rPr lang="es-ES" sz="1400">
                <a:latin typeface="Arial" panose="020B0604020202020204" pitchFamily="34" charset="0"/>
                <a:cs typeface="Arial" panose="020B0604020202020204" pitchFamily="34" charset="0"/>
              </a:rPr>
              <a:t>R =  25 µm: 0.0083 dB/90º ✓ SAFE</a:t>
            </a:r>
          </a:p>
          <a:p>
            <a:r>
              <a:rPr lang="es-ES" sz="1400">
                <a:latin typeface="Arial" panose="020B0604020202020204" pitchFamily="34" charset="0"/>
                <a:cs typeface="Arial" panose="020B0604020202020204" pitchFamily="34" charset="0"/>
              </a:rPr>
              <a:t>R =  30 µm: 0.0098 dB/90º ✓ SAFE</a:t>
            </a:r>
            <a:endParaRPr lang="es-E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153605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411C3CAB-6215-13FB-3BED-F163A3E3D79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Marcador de número de diapositiva 4">
            <a:extLst>
              <a:ext uri="{FF2B5EF4-FFF2-40B4-BE49-F238E27FC236}">
                <a16:creationId xmlns:a16="http://schemas.microsoft.com/office/drawing/2014/main" id="{93F65A27-BF3E-2FBD-85B7-6EFC484D2F47}"/>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6" name="object 16">
            <a:extLst>
              <a:ext uri="{FF2B5EF4-FFF2-40B4-BE49-F238E27FC236}">
                <a16:creationId xmlns:a16="http://schemas.microsoft.com/office/drawing/2014/main" id="{97461548-AD2B-9EAB-F4CA-CB23D87631C3}"/>
              </a:ext>
            </a:extLst>
          </p:cNvPr>
          <p:cNvSpPr txBox="1">
            <a:spLocks noGrp="1"/>
          </p:cNvSpPr>
          <p:nvPr>
            <p:ph type="title"/>
          </p:nvPr>
        </p:nvSpPr>
        <p:spPr>
          <a:xfrm>
            <a:off x="590550" y="357758"/>
            <a:ext cx="1099185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EXTRA – Silicon-On-Insulator technology</a:t>
            </a:r>
            <a:br>
              <a:rPr lang="en-US" sz="2500" dirty="0"/>
            </a:br>
            <a:r>
              <a:rPr lang="en-US" b="0" dirty="0"/>
              <a:t>Conclusions and comparative</a:t>
            </a:r>
            <a:endParaRPr lang="en-US" sz="2500" b="0" dirty="0">
              <a:latin typeface="+mj-lt"/>
              <a:cs typeface="Lucida Sans"/>
            </a:endParaRPr>
          </a:p>
        </p:txBody>
      </p:sp>
      <p:sp>
        <p:nvSpPr>
          <p:cNvPr id="7" name="CuadroTexto 6">
            <a:extLst>
              <a:ext uri="{FF2B5EF4-FFF2-40B4-BE49-F238E27FC236}">
                <a16:creationId xmlns:a16="http://schemas.microsoft.com/office/drawing/2014/main" id="{97D0CC71-CEF3-EE08-2D66-EA2E09DD844D}"/>
              </a:ext>
            </a:extLst>
          </p:cNvPr>
          <p:cNvSpPr txBox="1"/>
          <p:nvPr/>
        </p:nvSpPr>
        <p:spPr>
          <a:xfrm>
            <a:off x="990600" y="1882631"/>
            <a:ext cx="10210800" cy="3754874"/>
          </a:xfrm>
          <a:prstGeom prst="rect">
            <a:avLst/>
          </a:prstGeom>
          <a:solidFill>
            <a:schemeClr val="bg1">
              <a:lumMod val="95000"/>
            </a:schemeClr>
          </a:solidFill>
          <a:ln w="28575">
            <a:solidFill>
              <a:srgbClr val="E0700D"/>
            </a:solidFill>
          </a:ln>
        </p:spPr>
        <p:txBody>
          <a:bodyPr wrap="square" rtlCol="0">
            <a:spAutoFit/>
          </a:bodyPr>
          <a:lstStyle/>
          <a:p>
            <a:pPr algn="just"/>
            <a:r>
              <a:rPr lang="es-ES" sz="1400" dirty="0">
                <a:latin typeface="Arial" panose="020B0604020202020204" pitchFamily="34" charset="0"/>
                <a:cs typeface="Arial" panose="020B0604020202020204" pitchFamily="34" charset="0"/>
              </a:rPr>
              <a:t>A lo largo de esta práctica hemos caracterizado dos tecnologías fotónicas integradas con diferencias fundamentales derivadas del contraste de índice entre núcleo y </a:t>
            </a:r>
            <a:r>
              <a:rPr lang="es-ES" sz="1400" dirty="0" err="1">
                <a:latin typeface="Arial" panose="020B0604020202020204" pitchFamily="34" charset="0"/>
                <a:cs typeface="Arial" panose="020B0604020202020204" pitchFamily="34" charset="0"/>
              </a:rPr>
              <a:t>cladding</a:t>
            </a:r>
            <a:r>
              <a:rPr lang="es-ES" sz="1400" dirty="0">
                <a:latin typeface="Arial" panose="020B0604020202020204" pitchFamily="34" charset="0"/>
                <a:cs typeface="Arial" panose="020B0604020202020204" pitchFamily="34" charset="0"/>
              </a:rPr>
              <a:t>. </a:t>
            </a:r>
          </a:p>
          <a:p>
            <a:pPr algn="just"/>
            <a:endParaRPr lang="es-ES" sz="1400" dirty="0">
              <a:latin typeface="Arial" panose="020B0604020202020204" pitchFamily="34" charset="0"/>
              <a:cs typeface="Arial" panose="020B0604020202020204" pitchFamily="34" charset="0"/>
            </a:endParaRPr>
          </a:p>
          <a:p>
            <a:pPr algn="just"/>
            <a:r>
              <a:rPr lang="es-ES" sz="1400" dirty="0">
                <a:latin typeface="Arial" panose="020B0604020202020204" pitchFamily="34" charset="0"/>
                <a:cs typeface="Arial" panose="020B0604020202020204" pitchFamily="34" charset="0"/>
              </a:rPr>
              <a:t>La tecnología </a:t>
            </a:r>
            <a:r>
              <a:rPr lang="es-ES" sz="1400" dirty="0" err="1">
                <a:latin typeface="Arial" panose="020B0604020202020204" pitchFamily="34" charset="0"/>
                <a:cs typeface="Arial" panose="020B0604020202020204" pitchFamily="34" charset="0"/>
              </a:rPr>
              <a:t>SiNx</a:t>
            </a:r>
            <a:r>
              <a:rPr lang="es-ES" sz="1400" dirty="0">
                <a:latin typeface="Arial" panose="020B0604020202020204" pitchFamily="34" charset="0"/>
                <a:cs typeface="Arial" panose="020B0604020202020204" pitchFamily="34" charset="0"/>
              </a:rPr>
              <a:t> (</a:t>
            </a:r>
            <a:r>
              <a:rPr lang="es-ES" sz="1400" dirty="0" err="1">
                <a:latin typeface="Arial" panose="020B0604020202020204" pitchFamily="34" charset="0"/>
                <a:cs typeface="Arial" panose="020B0604020202020204" pitchFamily="34" charset="0"/>
              </a:rPr>
              <a:t>n_core</a:t>
            </a:r>
            <a:r>
              <a:rPr lang="es-ES" sz="1400" dirty="0">
                <a:latin typeface="Arial" panose="020B0604020202020204" pitchFamily="34" charset="0"/>
                <a:cs typeface="Arial" panose="020B0604020202020204" pitchFamily="34" charset="0"/>
              </a:rPr>
              <a:t> ≈ 1.99, </a:t>
            </a:r>
            <a:r>
              <a:rPr lang="es-ES" sz="1400" dirty="0" err="1">
                <a:latin typeface="Arial" panose="020B0604020202020204" pitchFamily="34" charset="0"/>
                <a:cs typeface="Arial" panose="020B0604020202020204" pitchFamily="34" charset="0"/>
              </a:rPr>
              <a:t>Δn</a:t>
            </a:r>
            <a:r>
              <a:rPr lang="es-ES" sz="1400" dirty="0">
                <a:latin typeface="Arial" panose="020B0604020202020204" pitchFamily="34" charset="0"/>
                <a:cs typeface="Arial" panose="020B0604020202020204" pitchFamily="34" charset="0"/>
              </a:rPr>
              <a:t> ≈ 0.55) presenta un confinamiento moderado, lo que se traduce en modos bien definidos y con polarización clara. El </a:t>
            </a:r>
            <a:r>
              <a:rPr lang="es-ES" sz="1400" dirty="0" err="1">
                <a:latin typeface="Arial" panose="020B0604020202020204" pitchFamily="34" charset="0"/>
                <a:cs typeface="Arial" panose="020B0604020202020204" pitchFamily="34" charset="0"/>
              </a:rPr>
              <a:t>n_eff</a:t>
            </a:r>
            <a:r>
              <a:rPr lang="es-ES" sz="1400" dirty="0">
                <a:latin typeface="Arial" panose="020B0604020202020204" pitchFamily="34" charset="0"/>
                <a:cs typeface="Arial" panose="020B0604020202020204" pitchFamily="34" charset="0"/>
              </a:rPr>
              <a:t> del modo TE0 a λ=1.55µm es de 1.605, con una sensibilidad al ancho relativamente baja (</a:t>
            </a:r>
            <a:r>
              <a:rPr lang="es-ES" sz="1400" dirty="0" err="1">
                <a:latin typeface="Arial" panose="020B0604020202020204" pitchFamily="34" charset="0"/>
                <a:cs typeface="Arial" panose="020B0604020202020204" pitchFamily="34" charset="0"/>
              </a:rPr>
              <a:t>Δneff</a:t>
            </a:r>
            <a:r>
              <a:rPr lang="es-ES" sz="1400" dirty="0">
                <a:latin typeface="Arial" panose="020B0604020202020204" pitchFamily="34" charset="0"/>
                <a:cs typeface="Arial" panose="020B0604020202020204" pitchFamily="34" charset="0"/>
              </a:rPr>
              <a:t> ≈ 0.12 en el rango 0.6–1.6µm). Esto implica mayor tolerancia dimensional en fabricación. No obstante, requiere radios de curvatura mayores (R ≥ 35µm para pérdidas &lt; 0.1 dB/90°), lo que limita la densidad de integración.</a:t>
            </a:r>
          </a:p>
          <a:p>
            <a:pPr algn="just"/>
            <a:endParaRPr lang="es-ES" sz="1400" dirty="0">
              <a:latin typeface="Arial" panose="020B0604020202020204" pitchFamily="34" charset="0"/>
              <a:cs typeface="Arial" panose="020B0604020202020204" pitchFamily="34" charset="0"/>
            </a:endParaRPr>
          </a:p>
          <a:p>
            <a:pPr algn="just"/>
            <a:r>
              <a:rPr lang="es-ES" sz="1400" dirty="0">
                <a:latin typeface="Arial" panose="020B0604020202020204" pitchFamily="34" charset="0"/>
                <a:cs typeface="Arial" panose="020B0604020202020204" pitchFamily="34" charset="0"/>
              </a:rPr>
              <a:t>La tecnología SOI (</a:t>
            </a:r>
            <a:r>
              <a:rPr lang="es-ES" sz="1400" dirty="0" err="1">
                <a:latin typeface="Arial" panose="020B0604020202020204" pitchFamily="34" charset="0"/>
                <a:cs typeface="Arial" panose="020B0604020202020204" pitchFamily="34" charset="0"/>
              </a:rPr>
              <a:t>n_core</a:t>
            </a:r>
            <a:r>
              <a:rPr lang="es-ES" sz="1400" dirty="0">
                <a:latin typeface="Arial" panose="020B0604020202020204" pitchFamily="34" charset="0"/>
                <a:cs typeface="Arial" panose="020B0604020202020204" pitchFamily="34" charset="0"/>
              </a:rPr>
              <a:t> ≈ 3.48, </a:t>
            </a:r>
            <a:r>
              <a:rPr lang="es-ES" sz="1400" dirty="0" err="1">
                <a:latin typeface="Arial" panose="020B0604020202020204" pitchFamily="34" charset="0"/>
                <a:cs typeface="Arial" panose="020B0604020202020204" pitchFamily="34" charset="0"/>
              </a:rPr>
              <a:t>Δn</a:t>
            </a:r>
            <a:r>
              <a:rPr lang="es-ES" sz="1400" dirty="0">
                <a:latin typeface="Arial" panose="020B0604020202020204" pitchFamily="34" charset="0"/>
                <a:cs typeface="Arial" panose="020B0604020202020204" pitchFamily="34" charset="0"/>
              </a:rPr>
              <a:t> ≈ 2.04) ofrece un confinamiento muy superior, con un </a:t>
            </a:r>
            <a:r>
              <a:rPr lang="es-ES" sz="1400" dirty="0" err="1">
                <a:latin typeface="Arial" panose="020B0604020202020204" pitchFamily="34" charset="0"/>
                <a:cs typeface="Arial" panose="020B0604020202020204" pitchFamily="34" charset="0"/>
              </a:rPr>
              <a:t>n_eff</a:t>
            </a:r>
            <a:r>
              <a:rPr lang="es-ES" sz="1400" dirty="0">
                <a:latin typeface="Arial" panose="020B0604020202020204" pitchFamily="34" charset="0"/>
                <a:cs typeface="Arial" panose="020B0604020202020204" pitchFamily="34" charset="0"/>
              </a:rPr>
              <a:t> del modo TE0 de 2.4499. Este alto contraste permite radios de curvatura extremadamente reducidos: todos los radios analizados (5–30µm) permanecen por debajo del umbral seguro de 0.1 dB/90°, lo que posibilita circuitos fotónicos mucho más compactos. Sin embargo, el alto </a:t>
            </a:r>
            <a:r>
              <a:rPr lang="es-ES" sz="1400" dirty="0" err="1">
                <a:latin typeface="Arial" panose="020B0604020202020204" pitchFamily="34" charset="0"/>
                <a:cs typeface="Arial" panose="020B0604020202020204" pitchFamily="34" charset="0"/>
              </a:rPr>
              <a:t>Δn</a:t>
            </a:r>
            <a:r>
              <a:rPr lang="es-ES" sz="1400" dirty="0">
                <a:latin typeface="Arial" panose="020B0604020202020204" pitchFamily="34" charset="0"/>
                <a:cs typeface="Arial" panose="020B0604020202020204" pitchFamily="34" charset="0"/>
              </a:rPr>
              <a:t> hace que los modos sean muy sensibles a variaciones de anchura, con modos más híbridos que incluso cambian de polarización dominante en pequeñas variaciones de w. Esto impone tolerancias de fabricación más estrictas.</a:t>
            </a:r>
          </a:p>
          <a:p>
            <a:pPr algn="just"/>
            <a:endParaRPr lang="es-ES" sz="1400" dirty="0">
              <a:latin typeface="Arial" panose="020B0604020202020204" pitchFamily="34" charset="0"/>
              <a:cs typeface="Arial" panose="020B0604020202020204" pitchFamily="34" charset="0"/>
            </a:endParaRPr>
          </a:p>
          <a:p>
            <a:pPr algn="just"/>
            <a:r>
              <a:rPr lang="es-ES" sz="1400" dirty="0">
                <a:latin typeface="Arial" panose="020B0604020202020204" pitchFamily="34" charset="0"/>
                <a:cs typeface="Arial" panose="020B0604020202020204" pitchFamily="34" charset="0"/>
              </a:rPr>
              <a:t>En definitiva, </a:t>
            </a:r>
            <a:r>
              <a:rPr lang="es-ES" sz="1400" dirty="0" err="1">
                <a:latin typeface="Arial" panose="020B0604020202020204" pitchFamily="34" charset="0"/>
                <a:cs typeface="Arial" panose="020B0604020202020204" pitchFamily="34" charset="0"/>
              </a:rPr>
              <a:t>SiNx</a:t>
            </a:r>
            <a:r>
              <a:rPr lang="es-ES" sz="1400" dirty="0">
                <a:latin typeface="Arial" panose="020B0604020202020204" pitchFamily="34" charset="0"/>
                <a:cs typeface="Arial" panose="020B0604020202020204" pitchFamily="34" charset="0"/>
              </a:rPr>
              <a:t> es preferible cuando se prioriza la robustez frente a variaciones de proceso, mientras que SOI es una buena opción cuando la densidad de integración es el factor crítico, como en interconexiones ópticas de alta densidad o sensores compactos.</a:t>
            </a:r>
          </a:p>
        </p:txBody>
      </p:sp>
    </p:spTree>
    <p:extLst>
      <p:ext uri="{BB962C8B-B14F-4D97-AF65-F5344CB8AC3E}">
        <p14:creationId xmlns:p14="http://schemas.microsoft.com/office/powerpoint/2010/main" val="33091890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lang="es-ES" sz="3200" b="1" spc="-5" dirty="0">
                <a:solidFill>
                  <a:srgbClr val="FFFFFF"/>
                </a:solidFill>
                <a:latin typeface="Lucida Sans"/>
                <a:cs typeface="Lucida Sans"/>
              </a:rPr>
              <a:t>Fin</a:t>
            </a:r>
            <a:endParaRPr sz="3200" dirty="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2" name="object 3">
            <a:extLst>
              <a:ext uri="{FF2B5EF4-FFF2-40B4-BE49-F238E27FC236}">
                <a16:creationId xmlns:a16="http://schemas.microsoft.com/office/drawing/2014/main" id="{289506BA-7E95-D14D-69D4-E6920BDA683D}"/>
              </a:ext>
            </a:extLst>
          </p:cNvPr>
          <p:cNvSpPr txBox="1"/>
          <p:nvPr/>
        </p:nvSpPr>
        <p:spPr>
          <a:xfrm>
            <a:off x="2746438" y="4412287"/>
            <a:ext cx="6699124" cy="1774845"/>
          </a:xfrm>
          <a:prstGeom prst="rect">
            <a:avLst/>
          </a:prstGeom>
        </p:spPr>
        <p:txBody>
          <a:bodyPr vert="horz" wrap="square" lIns="0" tIns="12700" rIns="0" bIns="0" rtlCol="0">
            <a:spAutoFit/>
          </a:bodyPr>
          <a:lstStyle/>
          <a:p>
            <a:pPr marL="12700">
              <a:lnSpc>
                <a:spcPct val="100000"/>
              </a:lnSpc>
              <a:spcBef>
                <a:spcPts val="100"/>
              </a:spcBef>
            </a:pPr>
            <a:r>
              <a:rPr lang="es-ES" sz="3200" b="1" dirty="0">
                <a:latin typeface="Lucida Sans"/>
                <a:cs typeface="Lucida Sans"/>
              </a:rPr>
              <a:t>Lucas Nicolás Descalzo Puchalt</a:t>
            </a:r>
          </a:p>
          <a:p>
            <a:pPr marL="12700">
              <a:lnSpc>
                <a:spcPct val="100000"/>
              </a:lnSpc>
              <a:spcBef>
                <a:spcPts val="100"/>
              </a:spcBef>
            </a:pPr>
            <a:r>
              <a:rPr lang="es-ES" sz="3200" b="1" dirty="0">
                <a:latin typeface="Lucida Sans"/>
                <a:cs typeface="Lucida Sans"/>
              </a:rPr>
              <a:t>Francisco García Villar</a:t>
            </a:r>
          </a:p>
          <a:p>
            <a:pPr marL="12700">
              <a:lnSpc>
                <a:spcPct val="100000"/>
              </a:lnSpc>
              <a:spcBef>
                <a:spcPts val="100"/>
              </a:spcBef>
            </a:pPr>
            <a:endParaRPr lang="es-ES" sz="2000" b="1" dirty="0">
              <a:latin typeface="Lucida Sans"/>
              <a:cs typeface="Lucida Sans"/>
            </a:endParaRPr>
          </a:p>
          <a:p>
            <a:pPr marL="12700">
              <a:lnSpc>
                <a:spcPct val="100000"/>
              </a:lnSpc>
              <a:spcBef>
                <a:spcPts val="100"/>
              </a:spcBef>
            </a:pPr>
            <a:r>
              <a:rPr lang="es-ES" sz="2400" b="1" dirty="0">
                <a:latin typeface="Lucida Sans"/>
                <a:cs typeface="Lucida Sans"/>
              </a:rPr>
              <a:t>Grupo B1</a:t>
            </a:r>
            <a:endParaRPr sz="2400" dirty="0">
              <a:latin typeface="Lucida Sans"/>
              <a:cs typeface="Lucida San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1606</TotalTime>
  <Words>2537</Words>
  <Application>Microsoft Office PowerPoint</Application>
  <PresentationFormat>Panorámica</PresentationFormat>
  <Paragraphs>158</Paragraphs>
  <Slides>18</Slides>
  <Notes>10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18</vt:i4>
      </vt:variant>
    </vt:vector>
  </HeadingPairs>
  <TitlesOfParts>
    <vt:vector size="26" baseType="lpstr">
      <vt:lpstr>Aptos</vt:lpstr>
      <vt:lpstr>Arial</vt:lpstr>
      <vt:lpstr>Calibri</vt:lpstr>
      <vt:lpstr>Cambria Math</vt:lpstr>
      <vt:lpstr>Lucida Sans</vt:lpstr>
      <vt:lpstr>Times New Roman</vt:lpstr>
      <vt:lpstr>Wingdings</vt:lpstr>
      <vt:lpstr>Office Theme</vt:lpstr>
      <vt:lpstr>Presentación de PowerPoint</vt:lpstr>
      <vt:lpstr>Instructions General</vt:lpstr>
      <vt:lpstr>Learning outcome #1 – Effective index of a waveguide </vt:lpstr>
      <vt:lpstr>Learning outcome #1. Continuación – Effective index of a waveguide </vt:lpstr>
      <vt:lpstr>Learning outcome #2 – Wavelength behavior Wavelength 1.5-1.6 µm (step 0.01 µm) – width 1.2 µm</vt:lpstr>
      <vt:lpstr>Learning outcome #2 Continuación – Wavelength behavior Wavelength 1.5-1.6 µm (step 0.01 µm) – width 1.2 µm</vt:lpstr>
      <vt:lpstr>Learning outcome #3 – Width dependence Width 0.6 - 1.6 µm (step 0.1 µm) – Wavelength 1.55 µm </vt:lpstr>
      <vt:lpstr>Learning outcome #3 Continuación – Width dependence Width 0.6 - 1.6 µm (step 0.1 µm) – Wavelength 1.55 µm </vt:lpstr>
      <vt:lpstr>Learning outcome #4 – Waveguide compact model - Find the compact models of the following waveguides:  Deep waveguide, h=300nm, w=1.2um   - Shallow waveguide, core h=300nm, slab h=150 nm, w = 1.2um  </vt:lpstr>
      <vt:lpstr>Learning outcome #4 Continuación – Waveguide compact model - Find the compact models of the following waveguides:  Deep waveguide, h=300nm, w=1.2um   - Shallow waveguide, core h=300nm, slab h=150 nm, w = 1.2um  </vt:lpstr>
      <vt:lpstr>Learning outcome #5 – Bend waveguide radius vs. loss – deep Find  neff_TE0 for wvl 1.55 µm, width 1.2 µm for R=25,50,75,100, 125,150 µm </vt:lpstr>
      <vt:lpstr>Learning outcome #5 Continuación – Bend waveguide radius vs. loss – deep Find  neff_TE0 for wvl 1.55 µm, width 1.2 µm for R=25,50,75,100, 125,150 µm </vt:lpstr>
      <vt:lpstr>Learning outcome EXTRA – Silicon-On-Insulator technology Wavelength behavior simulations (width = 500 nm ; height = 220 nm)</vt:lpstr>
      <vt:lpstr>Learning outcome EXTRA – Silicon-On-Insulator technology Width behavior simulations. Range 300nm-1µm (width = 500 nm ; height = 220 nm)</vt:lpstr>
      <vt:lpstr>Learning outcome EXTRA – Silicon-On-Insulator technology Width behavior simulations. Range 300nm-1µm (width = 500 nm ; height = 220 nm)</vt:lpstr>
      <vt:lpstr>Learning outcome EXTRA – Silicon-On-Insulator technology Radius behavior simulations. Range 5µm-30µm (width = 500 nm ; height = 220 nm)</vt:lpstr>
      <vt:lpstr>Learning outcome EXTRA – Silicon-On-Insulator technology Conclusions and comparative</vt:lpstr>
      <vt:lpstr>Fin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Lucas Descalzo Puchalt</cp:lastModifiedBy>
  <cp:revision>69</cp:revision>
  <dcterms:created xsi:type="dcterms:W3CDTF">2025-01-27T02:46:57Z</dcterms:created>
  <dcterms:modified xsi:type="dcterms:W3CDTF">2026-03-12T12:19:57Z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